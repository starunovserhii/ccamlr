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</p:sldIdLst>
  <p:notesMasterIdLst>
    <p:notesMasterId r:id="rId4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notesMaster" Target="notesMasters/notesMaster1.xml"/><Relationship Id="rId45" Type="http://schemas.openxmlformats.org/officeDocument/2006/relationships/presProps" Target="presProps.xml"/><Relationship Id="rId46" Type="http://schemas.openxmlformats.org/officeDocument/2006/relationships/viewProps" Target="viewProps.xml"/><Relationship Id="rId47" Type="http://schemas.openxmlformats.org/officeDocument/2006/relationships/theme" Target="theme/theme1.xml"/><Relationship Id="rId4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image" Target="../media/image-16-2.jpg"/><Relationship Id="rId3" Type="http://schemas.openxmlformats.org/officeDocument/2006/relationships/image" Target="../media/image-16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image" Target="../media/image-17-2.jpg"/><Relationship Id="rId3" Type="http://schemas.openxmlformats.org/officeDocument/2006/relationships/image" Target="../media/image-17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jpg"/><Relationship Id="rId2" Type="http://schemas.openxmlformats.org/officeDocument/2006/relationships/image" Target="../media/image-33-2.jpg"/><Relationship Id="rId3" Type="http://schemas.openxmlformats.org/officeDocument/2006/relationships/image" Target="../media/image-33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E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60520"/>
            <a:ext cx="12191695" cy="2697480"/>
          </a:xfrm>
          <a:prstGeom prst="rect">
            <a:avLst/>
          </a:prstGeom>
          <a:solidFill>
            <a:srgbClr val="163A5C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234440"/>
            <a:ext cx="11185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0A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ДНУ ІРГЕМО · КВАЛІФІКАЦІЙНА АТЕСТАЦІЯ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02920" y="1691640"/>
            <a:ext cx="1118585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Науковий спостерігач на промислових суднах у зоні дії ККАМЛР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02920" y="3246120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Ілюстрований посібник-презентація для підготовки кандидатів на виконання функцій наукового спостерігача на борту риболовних суден, що ведуть промисел або дослідний вилов у зоні дії Конвенції.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02920" y="461772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0A8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19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02920" y="5102352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тематичних розділів вихідного навчального сайту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91840" y="461772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0A8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21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3291840" y="5102352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офіційний документ CCAMLR/SISO опрацьовано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080760" y="461772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0A8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80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6080760" y="5102352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питань у банку самоперевірки перед іспитом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6126480"/>
            <a:ext cx="111858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F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Матеріал охоплює зону дії ККАМЛР (Конвенція про збереження морських живих ресурсів Антарктики). Промисел у зоні НАФО регулюється окремою організацією з іншими вимогами — див. розділ «Про НАФО» нижче.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85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ВСТУП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700" b="1" dirty="0">
                <a:solidFill>
                  <a:srgbClr val="0B2E4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Про цей посібник і про ІРГЕМО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600200"/>
            <a:ext cx="11185855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5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ДНУ «Інститут рибного господарства, екології моря та океанографії» (ІРГЕМО) проводить кваліфікаційну атестацію кандидатів на посаду наукового спостерігача та направляє українських спостерігачів на судна, що ведуть промисел у зоні дії Конвенції про збереження морських живих ресурсів Антарктики (ККАМЛР).</a:t>
            </a:r>
            <a:endParaRPr lang="en-US" sz="155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5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Посібник узагальнює зміст 21 офіційного документа ККАМЛР/SISO (Конвенція, заходи зі збереження, Схема наукового спостереження, форми, посібники з визначення видів і мічення) у вигляді, зручному для швидкого повторення перед атестацією.</a:t>
            </a:r>
            <a:endParaRPr lang="en-US" sz="155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5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Кожен розділ супроводжується ілюстраціями з офіційних визначників і посібників CCAMLR, а також посиланням на відповідний розділ повного навчального сайту з детальнішим текстом.</a:t>
            </a:r>
            <a:endParaRPr lang="en-US" sz="155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5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Матеріал підготовлено як навчальний конспект; він не замінює офіційні документи ККАМЛР і вимоги, що їх встановлює ІРГЕМО як відряджаюча організація.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502920" y="6053328"/>
            <a:ext cx="11185855" cy="512064"/>
          </a:xfrm>
          <a:prstGeom prst="roundRect">
            <a:avLst>
              <a:gd name="adj" fmla="val 10714"/>
            </a:avLst>
          </a:prstGeom>
          <a:solidFill>
            <a:srgbClr val="FFE9A8"/>
          </a:solidFill>
          <a:ln/>
        </p:spPr>
      </p:sp>
      <p:sp>
        <p:nvSpPr>
          <p:cNvPr id="6" name="Text 4"/>
          <p:cNvSpPr/>
          <p:nvPr/>
        </p:nvSpPr>
        <p:spPr>
          <a:xfrm>
            <a:off x="667512" y="6053328"/>
            <a:ext cx="10856671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C4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Основні вимоги до кандидатів: вища освіта, відсутність хронічних захворювань, що перешкоджають роботі на борту, базове знання англійської мови (за офіційними оголошеннями ІРГЕМО про атестацію).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02920" y="651052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Кваліфікаційна атестація наукових спостерігачів ККАМЛР — ДНУ ІРГЕМО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85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ВАЖЛИВО ПЕРЕД ПОЧАТКОМ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700" b="1" dirty="0">
                <a:solidFill>
                  <a:srgbClr val="0B2E4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Зона дії ККАМЛР і зона дії НАФО — це різні системи правил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645920"/>
            <a:ext cx="5364328" cy="4343400"/>
          </a:xfrm>
          <a:prstGeom prst="roundRect">
            <a:avLst>
              <a:gd name="adj" fmla="val 1474"/>
            </a:avLst>
          </a:prstGeom>
          <a:solidFill>
            <a:srgbClr val="FFFFFF"/>
          </a:solidFill>
          <a:ln w="12700">
            <a:solidFill>
              <a:srgbClr val="DCE4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58952" y="1828800"/>
            <a:ext cx="48522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86A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ККАМЛР (охоплено в цьому посібнику)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58952" y="2304288"/>
            <a:ext cx="4852264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2000"/>
              </a:lnSpc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Комісія зі збереження морських живих ресурсів Антарктики — зона на південь від 60° пд. ш. і до Антарктичної конвергенції.</a:t>
            </a:r>
            <a:endParaRPr lang="en-US" sz="1300" dirty="0"/>
          </a:p>
          <a:p>
            <a:pPr marL="228600" indent="-228600">
              <a:lnSpc>
                <a:spcPct val="112000"/>
              </a:lnSpc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Головні об'єкти промислу: іклач (Dissostichus spp.), антарктичний криль (Euphausia superba), крижана риба.</a:t>
            </a:r>
            <a:endParaRPr lang="en-US" sz="1300" dirty="0"/>
          </a:p>
          <a:p>
            <a:pPr marL="228600" indent="-228600">
              <a:lnSpc>
                <a:spcPct val="112000"/>
              </a:lnSpc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Регулюється заходами зі збереження (CM), Схемою SISO, Інспекційною системою ККАМЛР.</a:t>
            </a:r>
            <a:endParaRPr lang="en-US" sz="1300" dirty="0"/>
          </a:p>
          <a:p>
            <a:pPr marL="228600" indent="-228600">
              <a:lnSpc>
                <a:spcPct val="112000"/>
              </a:lnSpc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Саме ці джерела — 21 офіційний документ ККАМЛР/SISO — лягли в основу всього матеріалу нижче.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324448" y="1645920"/>
            <a:ext cx="5364328" cy="4343400"/>
          </a:xfrm>
          <a:prstGeom prst="roundRect">
            <a:avLst>
              <a:gd name="adj" fmla="val 1474"/>
            </a:avLst>
          </a:prstGeom>
          <a:solidFill>
            <a:srgbClr val="FFFFFF"/>
          </a:solidFill>
          <a:ln w="12700">
            <a:solidFill>
              <a:srgbClr val="DCE4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0480" y="1828800"/>
            <a:ext cx="48522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86A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НАФО (потребує окремих матеріалів)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580480" y="2304288"/>
            <a:ext cx="4852264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2000"/>
              </a:lnSpc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Організація з рибальства в північно-західній частині Атлантичного океану — район Великих Ньюфаундлендських банок, інша півкуля й екосистема.</a:t>
            </a:r>
            <a:endParaRPr lang="en-US" sz="1300" dirty="0"/>
          </a:p>
          <a:p>
            <a:pPr marL="228600" indent="-228600">
              <a:lnSpc>
                <a:spcPct val="112000"/>
              </a:lnSpc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Головні об'єкти промислу: тріска, окунь (redfish), креветка, гренландський палтус, короткоперий кальмар-стрілка.</a:t>
            </a:r>
            <a:endParaRPr lang="en-US" sz="1300" dirty="0"/>
          </a:p>
          <a:p>
            <a:pPr marL="228600" indent="-228600">
              <a:lnSpc>
                <a:spcPct val="112000"/>
              </a:lnSpc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Регулюється власними Заходами зі збереження та примусу (CEM) і власною схемою наукового спостереження НАФО.</a:t>
            </a:r>
            <a:endParaRPr lang="en-US" sz="1300" dirty="0"/>
          </a:p>
          <a:p>
            <a:pPr marL="228600" indent="-228600">
              <a:lnSpc>
                <a:spcPct val="112000"/>
              </a:lnSpc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Якщо атестація стосується рейсу в зоні НАФО — уточніть в ІРГЕМО перелік чинних документів НАФО: цей посібник таких матеріалів не містить.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2920" y="6053328"/>
            <a:ext cx="11185855" cy="512064"/>
          </a:xfrm>
          <a:prstGeom prst="roundRect">
            <a:avLst>
              <a:gd name="adj" fmla="val 10714"/>
            </a:avLst>
          </a:prstGeom>
          <a:solidFill>
            <a:srgbClr val="FFE9A8"/>
          </a:solidFill>
          <a:ln/>
        </p:spPr>
      </p:sp>
      <p:sp>
        <p:nvSpPr>
          <p:cNvPr id="11" name="Text 9"/>
          <p:cNvSpPr/>
          <p:nvPr/>
        </p:nvSpPr>
        <p:spPr>
          <a:xfrm>
            <a:off x="667512" y="6053328"/>
            <a:ext cx="10856671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C4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 результатами уточнення з користувачем матеріал свідомо обмежено зоною ККАМЛР, оскільки саме на ній побудовано весь вихідний навчальний сайт і всі 21 джерельні документи.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02920" y="651052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Кваліфікаційна атестація наукових спостерігачів ККАМЛР — ДНУ ІРГЕМО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85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ЗМІСТ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700" b="1" dirty="0">
                <a:solidFill>
                  <a:srgbClr val="0B2E4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Структура посібника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645920"/>
            <a:ext cx="3484778" cy="2148840"/>
          </a:xfrm>
          <a:prstGeom prst="roundRect">
            <a:avLst>
              <a:gd name="adj" fmla="val 2979"/>
            </a:avLst>
          </a:prstGeom>
          <a:solidFill>
            <a:srgbClr val="FFFFFF"/>
          </a:solidFill>
          <a:ln w="12700">
            <a:solidFill>
              <a:srgbClr val="DCE4EB"/>
            </a:solidFill>
            <a:prstDash val="solid"/>
          </a:ln>
          <a:effectLst>
            <a:outerShdw sx="100000" sy="100000" kx="0" ky="0" algn="bl" rotWithShape="0" blurRad="101600" dist="38100" dir="5400000">
              <a:srgbClr val="0B2E4E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7830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0A8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85800" y="2194560"/>
            <a:ext cx="31190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0B2E4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Основи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2697480"/>
            <a:ext cx="311901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3A4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Конвенція ККАМЛР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3A4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Схема SISO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3A4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Заходи зі збереження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3A4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Інспекційна система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353458" y="1645920"/>
            <a:ext cx="3484778" cy="2148840"/>
          </a:xfrm>
          <a:prstGeom prst="roundRect">
            <a:avLst>
              <a:gd name="adj" fmla="val 2979"/>
            </a:avLst>
          </a:prstGeom>
          <a:solidFill>
            <a:srgbClr val="FFFFFF"/>
          </a:solidFill>
          <a:ln w="12700">
            <a:solidFill>
              <a:srgbClr val="DCE4EB"/>
            </a:solidFill>
            <a:prstDash val="solid"/>
          </a:ln>
          <a:effectLst>
            <a:outerShdw sx="100000" sy="100000" kx="0" ky="0" algn="bl" rotWithShape="0" blurRad="101600" dist="38100" dir="5400000">
              <a:srgbClr val="0B2E4E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36338" y="17830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0A8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II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536338" y="2194560"/>
            <a:ext cx="31190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0B2E4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Промисел і види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36338" y="2697480"/>
            <a:ext cx="311901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3A4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Визначники іклача, риб, ластоногих, китів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3A4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Знаряддя лову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3A4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Криль, кальмари, краби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3A4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VME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3A4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Мічення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8203997" y="1645920"/>
            <a:ext cx="3484778" cy="2148840"/>
          </a:xfrm>
          <a:prstGeom prst="roundRect">
            <a:avLst>
              <a:gd name="adj" fmla="val 2979"/>
            </a:avLst>
          </a:prstGeom>
          <a:solidFill>
            <a:srgbClr val="FFFFFF"/>
          </a:solidFill>
          <a:ln w="12700">
            <a:solidFill>
              <a:srgbClr val="DCE4EB"/>
            </a:solidFill>
            <a:prstDash val="solid"/>
          </a:ln>
          <a:effectLst>
            <a:outerShdw sx="100000" sy="100000" kx="0" ky="0" algn="bl" rotWithShape="0" blurRad="101600" dist="38100" dir="5400000">
              <a:srgbClr val="0B2E4E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386877" y="17830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0A8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III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8386877" y="2194560"/>
            <a:ext cx="31190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0B2E4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Форми спостерігача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386877" y="2697480"/>
            <a:ext cx="311901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3A4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Журнал C2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3A4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Звіт про рейс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3A4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Норми відбору проб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3A4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Заповнення журналів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02920" y="3977640"/>
            <a:ext cx="3484778" cy="2148840"/>
          </a:xfrm>
          <a:prstGeom prst="roundRect">
            <a:avLst>
              <a:gd name="adj" fmla="val 2979"/>
            </a:avLst>
          </a:prstGeom>
          <a:solidFill>
            <a:srgbClr val="FFFFFF"/>
          </a:solidFill>
          <a:ln w="12700">
            <a:solidFill>
              <a:srgbClr val="DCE4EB"/>
            </a:solidFill>
            <a:prstDash val="solid"/>
          </a:ln>
          <a:effectLst>
            <a:outerShdw sx="100000" sy="100000" kx="0" ky="0" algn="bl" rotWithShape="0" blurRad="101600" dist="38100" dir="5400000">
              <a:srgbClr val="0B2E4E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85800" y="41148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0A8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IV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85800" y="4526280"/>
            <a:ext cx="31190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0B2E4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Довідники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85800" y="5029200"/>
            <a:ext cx="311901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3A4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Бібліотека документів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3A4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Глосарій термінів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3A4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Флеш-картки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353458" y="3977640"/>
            <a:ext cx="3484778" cy="2148840"/>
          </a:xfrm>
          <a:prstGeom prst="roundRect">
            <a:avLst>
              <a:gd name="adj" fmla="val 2979"/>
            </a:avLst>
          </a:prstGeom>
          <a:solidFill>
            <a:srgbClr val="FFFFFF"/>
          </a:solidFill>
          <a:ln w="12700">
            <a:solidFill>
              <a:srgbClr val="DCE4EB"/>
            </a:solidFill>
            <a:prstDash val="solid"/>
          </a:ln>
          <a:effectLst>
            <a:outerShdw sx="100000" sy="100000" kx="0" ky="0" algn="bl" rotWithShape="0" blurRad="101600" dist="38100" dir="5400000">
              <a:srgbClr val="0B2E4E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536338" y="41148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0A8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V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4536338" y="4526280"/>
            <a:ext cx="31190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0B2E4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Підготовка до іспиту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536338" y="5029200"/>
            <a:ext cx="311901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3A4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Чек-лист перед рейсом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3A4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Програма стажування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3A4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Шпаргалка та самоперевірка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02920" y="651052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Кваліфікаційна атестація наукових спостерігачів ККАМЛР — ДНУ ІРГЕМО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2E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6858000"/>
          </a:xfrm>
          <a:prstGeom prst="rect">
            <a:avLst/>
          </a:prstGeom>
          <a:solidFill>
            <a:srgbClr val="163A5C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148840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b="1" dirty="0">
                <a:solidFill>
                  <a:srgbClr val="E0A8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</a:t>
            </a:r>
            <a:endParaRPr lang="en-US" sz="8800" dirty="0"/>
          </a:p>
        </p:txBody>
      </p:sp>
      <p:sp>
        <p:nvSpPr>
          <p:cNvPr id="4" name="Text 2"/>
          <p:cNvSpPr/>
          <p:nvPr/>
        </p:nvSpPr>
        <p:spPr>
          <a:xfrm>
            <a:off x="502920" y="37033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РОЗДІЛ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703320" y="1965960"/>
            <a:ext cx="798545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Основи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3703320" y="3246120"/>
            <a:ext cx="79854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Правова база та структура ККАМЛР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703320" y="39776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A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023360" y="3941064"/>
            <a:ext cx="7665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Конвенція про збереження морських живих ресурсів Антарктики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3703320" y="4416552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A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023360" y="4379976"/>
            <a:ext cx="7665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Схема міжнародного наукового спостереження (SISO)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3703320" y="4855464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A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023360" y="4818888"/>
            <a:ext cx="7665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Заходи зі збереження — класифікація та ключові ліміти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3703320" y="5294376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A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023360" y="5257800"/>
            <a:ext cx="7665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Інспекційна система ККАМЛР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85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I.1 КОНВЕНЦІЯ ККАМЛР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700" b="1" dirty="0">
                <a:solidFill>
                  <a:srgbClr val="0B2E4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Конвенція про збереження морських живих ресурсів Антарктики</a:t>
            </a:r>
            <a:endParaRPr lang="en-US" sz="2700" dirty="0"/>
          </a:p>
        </p:txBody>
      </p:sp>
      <p:pic>
        <p:nvPicPr>
          <p:cNvPr id="4" name="Image 0" descr="/sessions/inspiring-blissful-dirac/mnt/outputs/pptx_build/assets/map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1600200"/>
            <a:ext cx="4160520" cy="46634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291072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Карта району дії Конвенції ККАМЛР (офіційні матеріали ККАМЛР)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5120640" y="1600200"/>
            <a:ext cx="6568135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Відкрита для підписання 1 серпня 1980 р., набула чинності 7 квітня 1982 р. — реакція на стрімке розширення промислу антарктичного криля в 1970-х.</a:t>
            </a:r>
            <a:endParaRPr lang="en-US" sz="1450" dirty="0"/>
          </a:p>
          <a:p>
            <a:pPr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Складається з 33 статей; штаб-квартира Комісії — м. Хобарт, Тасманія, Австралія.</a:t>
            </a:r>
            <a:endParaRPr lang="en-US" sz="1450" dirty="0"/>
          </a:p>
          <a:p>
            <a:pPr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Зона дії: на південь від 60° пд. ш., а також простір до Антарктичної конвергенції — природної океанографічної межі.</a:t>
            </a:r>
            <a:endParaRPr lang="en-US" sz="1450" dirty="0"/>
          </a:p>
          <a:p>
            <a:pPr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Перша рибогосподарська угода з екосистемним підходом: рішення враховують вплив на залежні й пов'язані види, а не лише на цільовий промисловий вид.</a:t>
            </a:r>
            <a:endParaRPr lang="en-US" sz="1450" dirty="0"/>
          </a:p>
          <a:p>
            <a:pPr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Ст. IX — повноваження Комісії ухвалювати заходи зі збереження; ст. XXIV — правова основа Схеми SISO.</a:t>
            </a:r>
            <a:endParaRPr lang="en-US" sz="1450" dirty="0"/>
          </a:p>
          <a:p>
            <a:pPr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Україна — Договірна сторона з 1994 р.; у листопаді 2022 р. (41-а сесія) уперше очолила Комісію ККАМЛР.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502920" y="651052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Кваліфікаційна атестація наукових спостерігачів ККАМЛР — ДНУ ІРГЕМО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85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I.1 КОНВЕНЦІЯ ККАМЛР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700" b="1" dirty="0">
                <a:solidFill>
                  <a:srgbClr val="0B2E4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Схема SISO: вісім розділів (A–H)</a:t>
            </a:r>
            <a:endParaRPr lang="en-US" sz="27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627632"/>
          <a:ext cx="11185855" cy="4361688"/>
        </p:xfrm>
        <a:graphic>
          <a:graphicData uri="http://schemas.openxmlformats.org/drawingml/2006/table">
            <a:tbl>
              <a:tblPr/>
              <a:tblGrid>
                <a:gridCol w="1566020"/>
                <a:gridCol w="9619835"/>
              </a:tblGrid>
              <a:tr h="54521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Розділ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Зміст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54521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A–C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Мета Схеми, визначення, призначення національних і міжнародних спостерігачів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521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Права та обов'язки спостерігача; заборони для спостерігача, екіпажу й капітана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</a:tr>
              <a:tr h="54521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E–F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Обов'язки держав прапора та відряджаючих держав; фінансові та організаційні питання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521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Порядок звітування — журнали, звіт про рейс, терміни подання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</a:tr>
              <a:tr h="54521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Перегляд і вдосконалення Схеми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521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Додаток 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 функцій і завдань наукового спостерігача — основа всієї практичної роботи в морі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</a:tr>
              <a:tr h="54521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Додаток II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План дій у надзвичайних ситуаціях на борту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02920" y="6053328"/>
            <a:ext cx="11185855" cy="512064"/>
          </a:xfrm>
          <a:prstGeom prst="roundRect">
            <a:avLst>
              <a:gd name="adj" fmla="val 10714"/>
            </a:avLst>
          </a:prstGeom>
          <a:solidFill>
            <a:srgbClr val="FFE9A8"/>
          </a:solidFill>
          <a:ln/>
        </p:spPr>
      </p:sp>
      <p:sp>
        <p:nvSpPr>
          <p:cNvPr id="6" name="Text 3"/>
          <p:cNvSpPr/>
          <p:nvPr/>
        </p:nvSpPr>
        <p:spPr>
          <a:xfrm>
            <a:off x="667512" y="6053328"/>
            <a:ext cx="10856671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C4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Розділ D є юридичною основою для розділу «Операційні проблеми» звіту про рейс — саме туди спостерігач вносить факти тиску, хабарництва чи перешкоджання.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502920" y="651052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Кваліфікаційна атестація наукових спостерігачів ККАМЛР — ДНУ ІРГЕМО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85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I.1 КОНВЕНЦІЯ ККАМЛР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700" b="1" dirty="0">
                <a:solidFill>
                  <a:srgbClr val="0B2E4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Scientific Observer's Manual — Finfish Fisheries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645920"/>
            <a:ext cx="5364328" cy="4343400"/>
          </a:xfrm>
          <a:prstGeom prst="roundRect">
            <a:avLst>
              <a:gd name="adj" fmla="val 1474"/>
            </a:avLst>
          </a:prstGeom>
          <a:solidFill>
            <a:srgbClr val="FFFFFF"/>
          </a:solidFill>
          <a:ln w="12700">
            <a:solidFill>
              <a:srgbClr val="DCE4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58952" y="1828800"/>
            <a:ext cx="48522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86A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Структура посібника (2026)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58952" y="2304288"/>
            <a:ext cx="4852264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2000"/>
              </a:lnSpc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розділів + 4 додатки — основне робоче керівництво спостерігача SISO на борту.</a:t>
            </a:r>
            <a:endParaRPr lang="en-US" sz="1300" dirty="0"/>
          </a:p>
          <a:p>
            <a:pPr marL="228600" indent="-228600">
              <a:lnSpc>
                <a:spcPct val="112000"/>
              </a:lnSpc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Охоплює всі практичні процедури: облік улову й прилову, біологічний відбір проб, мічення, VME, взаємодію з птахами й ссавцями.</a:t>
            </a:r>
            <a:endParaRPr lang="en-US" sz="1300" dirty="0"/>
          </a:p>
          <a:p>
            <a:pPr marL="228600" indent="-228600">
              <a:lnSpc>
                <a:spcPct val="112000"/>
              </a:lnSpc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Додаток 3 — вимоги до відбору проб Dissostichus spp.; Додаток 4 — протокол мічення іклача та скатів.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324448" y="1645920"/>
            <a:ext cx="5364328" cy="4343400"/>
          </a:xfrm>
          <a:prstGeom prst="roundRect">
            <a:avLst>
              <a:gd name="adj" fmla="val 1474"/>
            </a:avLst>
          </a:prstGeom>
          <a:solidFill>
            <a:srgbClr val="FFFFFF"/>
          </a:solidFill>
          <a:ln w="12700">
            <a:solidFill>
              <a:srgbClr val="DCE4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0480" y="1828800"/>
            <a:ext cx="48522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86A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Історія версій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580480" y="2304288"/>
            <a:ext cx="4852264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2000"/>
              </a:lnSpc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2011 — оригінальна версія</a:t>
            </a:r>
            <a:endParaRPr lang="en-US" sz="1300" dirty="0"/>
          </a:p>
          <a:p>
            <a:pPr marL="228600" indent="-228600">
              <a:lnSpc>
                <a:spcPct val="112000"/>
              </a:lnSpc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2019 (Draft) → 2020 — оновлення процедур</a:t>
            </a:r>
            <a:endParaRPr lang="en-US" sz="1300" dirty="0"/>
          </a:p>
          <a:p>
            <a:pPr marL="228600" indent="-228600">
              <a:lnSpc>
                <a:spcPct val="112000"/>
              </a:lnSpc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2020a — уточнення класифікації травм птахів</a:t>
            </a:r>
            <a:endParaRPr lang="en-US" sz="1300" dirty="0"/>
          </a:p>
          <a:p>
            <a:pPr marL="228600" indent="-228600">
              <a:lnSpc>
                <a:spcPct val="112000"/>
              </a:lnSpc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 — додано мічення скатів моря Росса</a:t>
            </a:r>
            <a:endParaRPr lang="en-US" sz="1300" dirty="0"/>
          </a:p>
          <a:p>
            <a:pPr marL="228600" indent="-228600">
              <a:lnSpc>
                <a:spcPct val="112000"/>
              </a:lnSpc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— поточна чинна версія (використана як джерело цього посібника)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2920" y="6053328"/>
            <a:ext cx="11185855" cy="512064"/>
          </a:xfrm>
          <a:prstGeom prst="roundRect">
            <a:avLst>
              <a:gd name="adj" fmla="val 10714"/>
            </a:avLst>
          </a:prstGeom>
          <a:solidFill>
            <a:srgbClr val="FFE9A8"/>
          </a:solidFill>
          <a:ln/>
        </p:spPr>
      </p:sp>
      <p:sp>
        <p:nvSpPr>
          <p:cNvPr id="11" name="Text 9"/>
          <p:cNvSpPr/>
          <p:nvPr/>
        </p:nvSpPr>
        <p:spPr>
          <a:xfrm>
            <a:off x="667512" y="6053328"/>
            <a:ext cx="10856671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C4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Детальні виміри, стадії зрілості й визначення видів із цього посібника винесено в окремий розділ «Визначники» (розділ II нижче), щоб не дублювати матеріал.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02920" y="651052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Кваліфікаційна атестація наукових спостерігачів ККАМЛР — ДНУ ІРГЕМО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85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I.2 ЗАХОДИ ЗІ ЗБЕРЕЖЕННЯ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700" b="1" dirty="0">
                <a:solidFill>
                  <a:srgbClr val="0B2E4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Класифікація заходів зі збереження (CM) за серіями</a:t>
            </a:r>
            <a:endParaRPr lang="en-US" sz="27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627632"/>
          <a:ext cx="11185855" cy="4636008"/>
        </p:xfrm>
        <a:graphic>
          <a:graphicData uri="http://schemas.openxmlformats.org/drawingml/2006/table">
            <a:tbl>
              <a:tblPr/>
              <a:tblGrid>
                <a:gridCol w="1566020"/>
                <a:gridCol w="5145493"/>
                <a:gridCol w="4474342"/>
              </a:tblGrid>
              <a:tr h="5151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Серія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Тематика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Приклад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5151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Дотримання: ліцензування, VMS, портові інспекції, CDS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CM 10-02 — інспекція в морі; CM 10-05 — CDS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51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Загальні питання промислу: нові промисли, розмір вічка, донні промисли, звітність, пом'якшення прилову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CM 25-02 — стример-лінії проти прилову птахів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</a:tr>
              <a:tr h="5151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Загальні промислові заходи: сезони, заборони спрямованого промислу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CM 32-09 — заборона спрямованого промислу Dissostichus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51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Ліміти прилову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CM 33-01 — ліміти у підрайоні 48.3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</a:tr>
              <a:tr h="5151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Іклач (Dissostichus spp.)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CM 41-09 — ліміт 88.1: 3278 т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51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Крижана риба (Champsocephalus gunnari)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CM 42-01 — підрайон 48.3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</a:tr>
              <a:tr h="5151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Криль (Euphausia superba)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CM 51-01 — тригер 620 000 т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51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Охоронювані території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CM 91-05 — МОР моря Росса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651052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Кваліфікаційна атестація наукових спостерігачів ККАМЛР — ДНУ ІРГЕМО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85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I.2 ЗАХОДИ ЗІ ЗБЕРЕЖЕННЯ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700" b="1" dirty="0">
                <a:solidFill>
                  <a:srgbClr val="0B2E4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Ключові ліміти вилову, сезон 2025/26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2590724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CE4EB"/>
            </a:solidFill>
            <a:prstDash val="solid"/>
          </a:ln>
          <a:effectLst>
            <a:outerShdw sx="100000" sy="100000" kx="0" ky="0" algn="bl" rotWithShape="0" blurRad="101600" dist="38100" dir="5400000">
              <a:srgbClr val="0B2E4E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856232"/>
            <a:ext cx="23164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F4E79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3278 т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640080" y="2651760"/>
            <a:ext cx="23164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3A4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mawsoni,</a:t>
            </a:r>
            <a:endParaRPr lang="en-US" sz="11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3A4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підрайон 88.1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367964" y="1691640"/>
            <a:ext cx="2590724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CE4EB"/>
            </a:solidFill>
            <a:prstDash val="solid"/>
          </a:ln>
          <a:effectLst>
            <a:outerShdw sx="100000" sy="100000" kx="0" ky="0" algn="bl" rotWithShape="0" blurRad="101600" dist="38100" dir="5400000">
              <a:srgbClr val="0B2E4E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505124" y="1856232"/>
            <a:ext cx="23164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F4E79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1624 т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3505124" y="2651760"/>
            <a:ext cx="23164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3A4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mawsoni,</a:t>
            </a:r>
            <a:endParaRPr lang="en-US" sz="11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3A4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підрайон 88.2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33008" y="1691640"/>
            <a:ext cx="2590724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CE4EB"/>
            </a:solidFill>
            <a:prstDash val="solid"/>
          </a:ln>
          <a:effectLst>
            <a:outerShdw sx="100000" sy="100000" kx="0" ky="0" algn="bl" rotWithShape="0" blurRad="101600" dist="38100" dir="5400000">
              <a:srgbClr val="0B2E4E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370168" y="1856232"/>
            <a:ext cx="23164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F4E79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2120 т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6370168" y="2651760"/>
            <a:ext cx="23164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3A4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eleginoides,</a:t>
            </a:r>
            <a:endParaRPr lang="en-US" sz="11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3A4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поділ 58.5.2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098051" y="1691640"/>
            <a:ext cx="2590724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CE4EB"/>
            </a:solidFill>
            <a:prstDash val="solid"/>
          </a:ln>
          <a:effectLst>
            <a:outerShdw sx="100000" sy="100000" kx="0" ky="0" algn="bl" rotWithShape="0" blurRad="101600" dist="38100" dir="5400000">
              <a:srgbClr val="0B2E4E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235211" y="1856232"/>
            <a:ext cx="23164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F4E79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620 000 т</a:t>
            </a:r>
            <a:endParaRPr lang="en-US" sz="2700" dirty="0"/>
          </a:p>
        </p:txBody>
      </p:sp>
      <p:sp>
        <p:nvSpPr>
          <p:cNvPr id="15" name="Text 13"/>
          <p:cNvSpPr/>
          <p:nvPr/>
        </p:nvSpPr>
        <p:spPr>
          <a:xfrm>
            <a:off x="9235211" y="2651760"/>
            <a:ext cx="23164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3A4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тригерний рівень</a:t>
            </a:r>
            <a:endParaRPr lang="en-US" sz="11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3A4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криль, 48.1–48.4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" y="3703320"/>
            <a:ext cx="11185855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2000"/>
              </a:lnSpc>
              <a:spcAft>
                <a:spcPts val="800"/>
              </a:spcAft>
              <a:buSzPct val="100000"/>
              <a:buChar char="▪"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Підрайон 48.4: D. eleginoides 33 т / D. mawsoni 32 т. Поділ 58.4.1: 0 т — закрито для спрямованого промислу.</a:t>
            </a:r>
            <a:endParaRPr lang="en-US" sz="1400" dirty="0"/>
          </a:p>
          <a:p>
            <a:pPr marL="228600" indent="-228600">
              <a:lnSpc>
                <a:spcPct val="112000"/>
              </a:lnSpc>
              <a:spcAft>
                <a:spcPts val="800"/>
              </a:spcAft>
              <a:buSzPct val="100000"/>
              <a:buChar char="▪"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Крижана риба: підрайон 48.3 — 3430 т (2025/26) / 2230 т (2026/27); поділ 58.5.2 — 1429 т / 1126 т.</a:t>
            </a:r>
            <a:endParaRPr lang="en-US" sz="1400" dirty="0"/>
          </a:p>
          <a:p>
            <a:pPr marL="228600" indent="-228600">
              <a:lnSpc>
                <a:spcPct val="112000"/>
              </a:lnSpc>
              <a:spcAft>
                <a:spcPts val="800"/>
              </a:spcAft>
              <a:buSzPct val="100000"/>
              <a:buChar char="▪"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Криль: сумарний застережний ліміт для підрайонів 48.1–48.4 — 5,61 млн т; після досягнення тригерного рівня 620 000 т застосовується розподіл по SSMU.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02920" y="6053328"/>
            <a:ext cx="11185855" cy="512064"/>
          </a:xfrm>
          <a:prstGeom prst="roundRect">
            <a:avLst>
              <a:gd name="adj" fmla="val 10714"/>
            </a:avLst>
          </a:prstGeom>
          <a:solidFill>
            <a:srgbClr val="FFE9A8"/>
          </a:solidFill>
          <a:ln/>
        </p:spPr>
      </p:sp>
      <p:sp>
        <p:nvSpPr>
          <p:cNvPr id="18" name="Text 16"/>
          <p:cNvSpPr/>
          <p:nvPr/>
        </p:nvSpPr>
        <p:spPr>
          <a:xfrm>
            <a:off x="667512" y="6053328"/>
            <a:ext cx="10856671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C4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Вилов у Підрайоні 48 у 2025 р. вперше перевищив тригерний рівень криля, що призвело до закриття промислу з 1 серпня 2026 р. — приклад того, як спрацьовує превентивний механізм управління.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02920" y="651052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Кваліфікаційна атестація наукових спостерігачів ККАМЛР — ДНУ ІРГЕМО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85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I.3 ІНСПЕКЦІЙНА СИСТЕМА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700" b="1" dirty="0">
                <a:solidFill>
                  <a:srgbClr val="0B2E4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Морська та портова інспекція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600200"/>
            <a:ext cx="5364328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 10-02 — інспекція в морі: інспектор, призначений будь-якою Договірною стороною, має право підніматися на борт судна іншої Договірної сторони незалежно від прапора.</a:t>
            </a:r>
            <a:endParaRPr lang="en-US" sz="1450" dirty="0"/>
          </a:p>
          <a:p>
            <a:pPr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Звіт про інспекцію в морі передається одночасно Секретаріату ККАМЛР і державі прапора судна — саме держава прапора вирішує щодо подальшого переслідування за порушення.</a:t>
            </a:r>
            <a:endParaRPr lang="en-US" sz="1450" dirty="0"/>
          </a:p>
          <a:p>
            <a:pPr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 10-03 — портова інспекція: 100% суден з іклачем на борту підлягають обов'язковій інспекції; для інших ресурсів — не менш як 50%.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324448" y="1600200"/>
            <a:ext cx="5364328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Судно зобов'язане повідомити приймаючу державу щонайменше за 48 годин до заходу в порт.</a:t>
            </a:r>
            <a:endParaRPr lang="en-US" sz="1450" dirty="0"/>
          </a:p>
          <a:p>
            <a:pPr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вивантаження іклача приймаюча сторона перевіряє документацію Схеми документування вилову (CDS) і звіряє її з фізичним вантажем.</a:t>
            </a:r>
            <a:endParaRPr lang="en-US" sz="1450" dirty="0"/>
          </a:p>
          <a:p>
            <a:pPr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Спостерігач не є інспектором і не має примусових повноважень — але його журнали (C2, звіт про рейс) є джерелом даних для звірки під час інспекції.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502920" y="651052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Кваліфікаційна атестація наукових спостерігачів ККАМЛР — ДНУ ІРГЕМО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85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I.3 ІНСПЕКЦІЙНА СИСТЕМА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700" b="1" dirty="0">
                <a:solidFill>
                  <a:srgbClr val="0B2E4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Звітність про ННН-промисел і забруднення моря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600200"/>
            <a:ext cx="11185855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5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Головне правило безпеки при виявленні підозрілого судна — фіксація, а не контакт. Спостерігач ніколи не намагається зв'язатися з підозрілим судном самостійно.</a:t>
            </a:r>
            <a:endParaRPr lang="en-US" sz="155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5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 формі спостереження ННН фіксуються: дата й час у UTC, позиція, назва/позивний/прапор судна (якщо вдалося розгледіти), опис знаряддя чи судна, для зябрових сіток — розмір вічка.</a:t>
            </a:r>
            <a:endParaRPr lang="en-US" sz="155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5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Капітан судна зобов'язаний якнайшвидше повідомити про спостереження до Секретаріату ККАМЛР через свою державу прапора.</a:t>
            </a:r>
            <a:endParaRPr lang="en-US" sz="155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5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Окремою формою (Waste Disposal) фіксується втрата чи скидання власного знаряддя лову й відходів — випадково чи навмисно, з періодичністю (нерегулярно / щотижня / щодня).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502920" y="6053328"/>
            <a:ext cx="11185855" cy="512064"/>
          </a:xfrm>
          <a:prstGeom prst="roundRect">
            <a:avLst>
              <a:gd name="adj" fmla="val 10714"/>
            </a:avLst>
          </a:prstGeom>
          <a:solidFill>
            <a:srgbClr val="FFE9A8"/>
          </a:solidFill>
          <a:ln/>
        </p:spPr>
      </p:sp>
      <p:sp>
        <p:nvSpPr>
          <p:cNvPr id="6" name="Text 4"/>
          <p:cNvSpPr/>
          <p:nvPr/>
        </p:nvSpPr>
        <p:spPr>
          <a:xfrm>
            <a:off x="667512" y="6053328"/>
            <a:ext cx="10856671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C4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Схема документування вилову (CDS) і портова інспекція разом утворюють головний бар'єр, що не дає нелегально виловленій рибі потрапити на легальний ринок.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02920" y="651052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Кваліфікаційна атестація наукових спостерігачів ККАМЛР — ДНУ ІРГЕМО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2E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6858000"/>
          </a:xfrm>
          <a:prstGeom prst="rect">
            <a:avLst/>
          </a:prstGeom>
          <a:solidFill>
            <a:srgbClr val="163A5C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148840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b="1" dirty="0">
                <a:solidFill>
                  <a:srgbClr val="E0A8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II</a:t>
            </a:r>
            <a:endParaRPr lang="en-US" sz="8800" dirty="0"/>
          </a:p>
        </p:txBody>
      </p:sp>
      <p:sp>
        <p:nvSpPr>
          <p:cNvPr id="4" name="Text 2"/>
          <p:cNvSpPr/>
          <p:nvPr/>
        </p:nvSpPr>
        <p:spPr>
          <a:xfrm>
            <a:off x="502920" y="37033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РОЗДІЛ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703320" y="1965960"/>
            <a:ext cx="798545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Промисел і види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3703320" y="3246120"/>
            <a:ext cx="79854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Визначники, знаряддя лову, промислові об'єкти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703320" y="39776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A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023360" y="3941064"/>
            <a:ext cx="7665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Іклач: визначення видів і стадій зрілості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3703320" y="4416552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A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023360" y="4379976"/>
            <a:ext cx="7665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Риби, ластоногі, кити Південного океану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3703320" y="4855464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A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023360" y="4818888"/>
            <a:ext cx="7665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Знаряддя лову: яруси, трали, пастки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3703320" y="5294376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A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023360" y="5257800"/>
            <a:ext cx="7665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Криль, кальмари, краби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3703320" y="5733288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A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023360" y="5696712"/>
            <a:ext cx="7665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Вразливі морські екосистеми (VME)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3703320" y="617220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A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023360" y="6135624"/>
            <a:ext cx="7665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Мічення іклача та скатів</a:t>
            </a:r>
            <a:endParaRPr lang="en-US" sz="14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85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II.1 ВИЗНАЧНИКИ — ІКЛАЧ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700" b="1" dirty="0">
                <a:solidFill>
                  <a:srgbClr val="0B2E4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Два види іклача: розрізнення й біологія</a:t>
            </a:r>
            <a:endParaRPr lang="en-US" sz="2700" dirty="0"/>
          </a:p>
        </p:txBody>
      </p:sp>
      <p:pic>
        <p:nvPicPr>
          <p:cNvPr id="4" name="Image 0" descr="/sessions/inspiring-blissful-dirac/mnt/outputs/pptx_build/assets/toothfish_poster1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1600200"/>
            <a:ext cx="4160520" cy="46634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291072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Офіційний постер CCAMLR «Identification Guide for Toothfish»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5120640" y="1600200"/>
            <a:ext cx="6568135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Родина Nototheniidae, рід Dissostichus: D. eleginoides — патагонський іклач (код TOP), D. mawsoni — антарктичний іклач (код TOA).</a:t>
            </a:r>
            <a:endParaRPr lang="en-US" sz="1450" dirty="0"/>
          </a:p>
          <a:p>
            <a:pPr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Забарвлення спинного плавця: у патагонського — однорідне з білими кінчиками; у антарктичного — чергування темних і світлих смуг.</a:t>
            </a:r>
            <a:endParaRPr lang="en-US" sz="1450" dirty="0"/>
          </a:p>
          <a:p>
            <a:pPr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Структура зубів: у патагонського — великі, довгі й гострі; у антарктичного — значно менші відносно тіла.</a:t>
            </a:r>
            <a:endParaRPr lang="en-US" sz="1450" dirty="0"/>
          </a:p>
          <a:p>
            <a:pPr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Додатково: довжина бічної лінії та форма отолітів (у патагонського — більші й видовженіші).</a:t>
            </a:r>
            <a:endParaRPr lang="en-US" sz="1450" dirty="0"/>
          </a:p>
          <a:p>
            <a:pPr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Статева зрілість у 8–10 років, життя до 45–50 років; у промислових уловах довжина 80–140 см, вага 10–30 кг.</a:t>
            </a:r>
            <a:endParaRPr lang="en-US" sz="1450" dirty="0"/>
          </a:p>
          <a:p>
            <a:pPr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Схожі види при неправильному маркуванні: хек, акули, африканський баррелфіш, гренландський палтус (при філетуванні).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502920" y="651052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Кваліфікаційна атестація наукових спостерігачів ККАМЛР — ДНУ ІРГЕМО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85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II.1 ВИЗНАЧНИКИ — ІКЛАЧ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700" b="1" dirty="0">
                <a:solidFill>
                  <a:srgbClr val="0B2E4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Стадії зрілості гонад: самиці F1–F5, самці M1–M5</a:t>
            </a:r>
            <a:endParaRPr lang="en-US" sz="27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627632"/>
          <a:ext cx="11185855" cy="4361688"/>
        </p:xfrm>
        <a:graphic>
          <a:graphicData uri="http://schemas.openxmlformats.org/drawingml/2006/table">
            <a:tbl>
              <a:tblPr/>
              <a:tblGrid>
                <a:gridCol w="2460888"/>
                <a:gridCol w="8724967"/>
              </a:tblGrid>
              <a:tr h="62309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Стадія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Опис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62309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 Незріла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Яєчник малий, твердий, ооцити не видно неозброєним оком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309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F2 Дозріваюча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Яєчник видовжений, твердий, дрібні ооцити — зернистий вигляд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</a:tr>
              <a:tr h="62309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F3 Розвивається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Яєчник великий, розширює порожнину тіла, ооцити двох розмірів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309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F4 Ікряна (гравідна)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При розтині випливає велика ікра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</a:tr>
              <a:tr h="62309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F5 Відметана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Яєчник зморщений, в'ялий, залишкові ікринки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309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M1–M5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Паралельна шкала для самців: від прозорого малого сім'яника (M1) до виділення молочка при натисканні (M4) і зморщеного стану (M5)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02920" y="6053328"/>
            <a:ext cx="11185855" cy="512064"/>
          </a:xfrm>
          <a:prstGeom prst="roundRect">
            <a:avLst>
              <a:gd name="adj" fmla="val 10714"/>
            </a:avLst>
          </a:prstGeom>
          <a:solidFill>
            <a:srgbClr val="FFE9A8"/>
          </a:solidFill>
          <a:ln/>
        </p:spPr>
      </p:sp>
      <p:sp>
        <p:nvSpPr>
          <p:cNvPr id="6" name="Text 3"/>
          <p:cNvSpPr/>
          <p:nvPr/>
        </p:nvSpPr>
        <p:spPr>
          <a:xfrm>
            <a:off x="667512" y="6053328"/>
            <a:ext cx="10856671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C4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Норма відбору проб: ≈7 риб/1000 гачків = 35 риб на лінію (5000 гачків); з них 10 риб — з відбором отолітів для визначення віку.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502920" y="651052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Кваліфікаційна атестація наукових спостерігачів ККАМЛР — ДНУ ІРГЕМО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85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II.1 ВИЗНАЧНИКИ — РИБИ, ЛАСТОНОГІ, КИТИ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700" b="1" dirty="0">
                <a:solidFill>
                  <a:srgbClr val="0B2E4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Fishes of the Ross Sea Region — 30 видів, 11 родин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627632"/>
            <a:ext cx="3545738" cy="2852928"/>
          </a:xfrm>
          <a:prstGeom prst="roundRect">
            <a:avLst>
              <a:gd name="adj" fmla="val 1603"/>
            </a:avLst>
          </a:prstGeom>
          <a:solidFill>
            <a:srgbClr val="FFFFFF"/>
          </a:solidFill>
          <a:ln w="12700">
            <a:solidFill>
              <a:srgbClr val="DCE4EB"/>
            </a:solidFill>
            <a:prstDash val="solid"/>
          </a:ln>
        </p:spPr>
      </p:sp>
      <p:pic>
        <p:nvPicPr>
          <p:cNvPr id="5" name="Image 0" descr="/sessions/inspiring-blissful-dirac/mnt/outputs/pptx_build/assets/fish_top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94360" y="1719072"/>
            <a:ext cx="3362858" cy="26700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4507992"/>
            <a:ext cx="35457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eleginoides (TOP)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4322978" y="1627632"/>
            <a:ext cx="3545738" cy="2852928"/>
          </a:xfrm>
          <a:prstGeom prst="roundRect">
            <a:avLst>
              <a:gd name="adj" fmla="val 1603"/>
            </a:avLst>
          </a:prstGeom>
          <a:solidFill>
            <a:srgbClr val="FFFFFF"/>
          </a:solidFill>
          <a:ln w="12700">
            <a:solidFill>
              <a:srgbClr val="DCE4EB"/>
            </a:solidFill>
            <a:prstDash val="solid"/>
          </a:ln>
        </p:spPr>
      </p:sp>
      <p:pic>
        <p:nvPicPr>
          <p:cNvPr id="8" name="Image 1" descr="/sessions/inspiring-blissful-dirac/mnt/outputs/pptx_build/assets/fish_toa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414418" y="1719072"/>
            <a:ext cx="3362858" cy="267004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322978" y="4507992"/>
            <a:ext cx="35457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mawsoni (TOA)</a:t>
            </a:r>
            <a:endParaRPr lang="en-US" sz="950" dirty="0"/>
          </a:p>
        </p:txBody>
      </p:sp>
      <p:sp>
        <p:nvSpPr>
          <p:cNvPr id="10" name="Shape 6"/>
          <p:cNvSpPr/>
          <p:nvPr/>
        </p:nvSpPr>
        <p:spPr>
          <a:xfrm>
            <a:off x="8143037" y="1627632"/>
            <a:ext cx="3545738" cy="2852928"/>
          </a:xfrm>
          <a:prstGeom prst="roundRect">
            <a:avLst>
              <a:gd name="adj" fmla="val 1603"/>
            </a:avLst>
          </a:prstGeom>
          <a:solidFill>
            <a:srgbClr val="FFFFFF"/>
          </a:solidFill>
          <a:ln w="12700">
            <a:solidFill>
              <a:srgbClr val="DCE4EB"/>
            </a:solidFill>
            <a:prstDash val="solid"/>
          </a:ln>
        </p:spPr>
      </p:sp>
      <p:pic>
        <p:nvPicPr>
          <p:cNvPr id="11" name="Image 2" descr="/sessions/inspiring-blissful-dirac/mnt/outputs/pptx_build/assets/grenadiers1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234477" y="1719072"/>
            <a:ext cx="3362858" cy="267004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143037" y="4507992"/>
            <a:ext cx="35457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 визначення Macrourus spp.</a:t>
            </a:r>
            <a:endParaRPr lang="en-US" sz="950" dirty="0"/>
          </a:p>
        </p:txBody>
      </p:sp>
      <p:sp>
        <p:nvSpPr>
          <p:cNvPr id="13" name="Text 8"/>
          <p:cNvSpPr/>
          <p:nvPr/>
        </p:nvSpPr>
        <p:spPr>
          <a:xfrm>
            <a:off x="502920" y="4937760"/>
            <a:ext cx="11185855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0000"/>
              </a:lnSpc>
              <a:spcAft>
                <a:spcPts val="500"/>
              </a:spcAft>
              <a:buSzPct val="100000"/>
              <a:buChar char="▪"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Родини: Nototheniidae (нототенієві), Channichthyidae (крижані риби), Macrouridae (довгохвости), Arhynchobatidae (м'якорилі скати), Liparidae (слизняки), Zoarcidae (бельдюгові) та інші.</a:t>
            </a:r>
            <a:endParaRPr lang="en-US" sz="1250" dirty="0"/>
          </a:p>
          <a:p>
            <a:pPr marL="228600" indent="-228600">
              <a:lnSpc>
                <a:spcPct val="110000"/>
              </a:lnSpc>
              <a:spcAft>
                <a:spcPts val="500"/>
              </a:spcAft>
              <a:buSzPct val="100000"/>
              <a:buChar char="▪"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Macrourus spp. (4 види) визначення за SDRAL (кількість лусок у діагональному ряду від ануса до бічної лінії) і кількістю рядів зубів на нижній щелепі.</a:t>
            </a:r>
            <a:endParaRPr lang="en-US" sz="1250" dirty="0"/>
          </a:p>
        </p:txBody>
      </p:sp>
      <p:sp>
        <p:nvSpPr>
          <p:cNvPr id="14" name="Text 9"/>
          <p:cNvSpPr/>
          <p:nvPr/>
        </p:nvSpPr>
        <p:spPr>
          <a:xfrm>
            <a:off x="502920" y="651052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Кваліфікаційна атестація наукових спостерігачів ККАМЛР — ДНУ ІРГЕМО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85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II.1 ВИЗНАЧНИКИ — ЛАСТОНОГІ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700" b="1" dirty="0">
                <a:solidFill>
                  <a:srgbClr val="0B2E4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Шість видів ластоногих Південного океану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627632"/>
            <a:ext cx="3545738" cy="2852928"/>
          </a:xfrm>
          <a:prstGeom prst="roundRect">
            <a:avLst>
              <a:gd name="adj" fmla="val 1603"/>
            </a:avLst>
          </a:prstGeom>
          <a:solidFill>
            <a:srgbClr val="FFFFFF"/>
          </a:solidFill>
          <a:ln w="12700">
            <a:solidFill>
              <a:srgbClr val="DCE4EB"/>
            </a:solidFill>
            <a:prstDash val="solid"/>
          </a:ln>
        </p:spPr>
      </p:sp>
      <p:pic>
        <p:nvPicPr>
          <p:cNvPr id="5" name="Image 0" descr="/sessions/inspiring-blissful-dirac/mnt/outputs/pptx_build/assets/seal_crabeater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94360" y="1719072"/>
            <a:ext cx="3362858" cy="26700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4507992"/>
            <a:ext cx="35457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Тюлень-крабоїд (SET)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4322978" y="1627632"/>
            <a:ext cx="3545738" cy="2852928"/>
          </a:xfrm>
          <a:prstGeom prst="roundRect">
            <a:avLst>
              <a:gd name="adj" fmla="val 1603"/>
            </a:avLst>
          </a:prstGeom>
          <a:solidFill>
            <a:srgbClr val="FFFFFF"/>
          </a:solidFill>
          <a:ln w="12700">
            <a:solidFill>
              <a:srgbClr val="DCE4EB"/>
            </a:solidFill>
            <a:prstDash val="solid"/>
          </a:ln>
        </p:spPr>
      </p:sp>
      <p:pic>
        <p:nvPicPr>
          <p:cNvPr id="8" name="Image 1" descr="/sessions/inspiring-blissful-dirac/mnt/outputs/pptx_build/assets/seal_leopard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414418" y="1719072"/>
            <a:ext cx="3362858" cy="267004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322978" y="4507992"/>
            <a:ext cx="35457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Тюлень-леопард (SLP)</a:t>
            </a:r>
            <a:endParaRPr lang="en-US" sz="950" dirty="0"/>
          </a:p>
        </p:txBody>
      </p:sp>
      <p:sp>
        <p:nvSpPr>
          <p:cNvPr id="10" name="Shape 6"/>
          <p:cNvSpPr/>
          <p:nvPr/>
        </p:nvSpPr>
        <p:spPr>
          <a:xfrm>
            <a:off x="8143037" y="1627632"/>
            <a:ext cx="3545738" cy="2852928"/>
          </a:xfrm>
          <a:prstGeom prst="roundRect">
            <a:avLst>
              <a:gd name="adj" fmla="val 1603"/>
            </a:avLst>
          </a:prstGeom>
          <a:solidFill>
            <a:srgbClr val="FFFFFF"/>
          </a:solidFill>
          <a:ln w="12700">
            <a:solidFill>
              <a:srgbClr val="DCE4EB"/>
            </a:solidFill>
            <a:prstDash val="solid"/>
          </a:ln>
        </p:spPr>
      </p:sp>
      <p:pic>
        <p:nvPicPr>
          <p:cNvPr id="11" name="Image 2" descr="/sessions/inspiring-blissful-dirac/mnt/outputs/pptx_build/assets/seal_elephant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234477" y="1719072"/>
            <a:ext cx="3362858" cy="267004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143037" y="4507992"/>
            <a:ext cx="35457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Південний морський слон (SES)</a:t>
            </a:r>
            <a:endParaRPr lang="en-US" sz="950" dirty="0"/>
          </a:p>
        </p:txBody>
      </p:sp>
      <p:sp>
        <p:nvSpPr>
          <p:cNvPr id="13" name="Text 8"/>
          <p:cNvSpPr/>
          <p:nvPr/>
        </p:nvSpPr>
        <p:spPr>
          <a:xfrm>
            <a:off x="502920" y="4937760"/>
            <a:ext cx="11185855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0000"/>
              </a:lnSpc>
              <a:spcAft>
                <a:spcPts val="500"/>
              </a:spcAft>
              <a:buSzPct val="100000"/>
              <a:buChar char="▪"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Антарктичний морський котик (SEA) — єдиний вухатий тюлень зі списку, довгі вуса, зовнішні вушні раковини.</a:t>
            </a:r>
            <a:endParaRPr lang="en-US" sz="1250" dirty="0"/>
          </a:p>
          <a:p>
            <a:pPr marL="228600" indent="-228600">
              <a:lnSpc>
                <a:spcPct val="110000"/>
              </a:lnSpc>
              <a:spcAft>
                <a:spcPts val="500"/>
              </a:spcAft>
              <a:buSzPct val="100000"/>
              <a:buChar char="▪"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Тюлень Уеддела (SLW) — малий тупий писок; тюлень Росса — найрідше зустрічається, дуже короткий писок, великі очі.</a:t>
            </a:r>
            <a:endParaRPr lang="en-US" sz="1250" dirty="0"/>
          </a:p>
          <a:p>
            <a:pPr marL="228600" indent="-228600">
              <a:lnSpc>
                <a:spcPct val="110000"/>
              </a:lnSpc>
              <a:spcAft>
                <a:spcPts val="500"/>
              </a:spcAft>
              <a:buSzPct val="100000"/>
              <a:buChar char="▪"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Визначення статі: якщо статеві отвори одразу над задніми ластами — самиця; два окремі отвори вище — самець. Спостерігачам заборонено наближатися до живих тюленів на палубі.</a:t>
            </a:r>
            <a:endParaRPr lang="en-US" sz="1250" dirty="0"/>
          </a:p>
        </p:txBody>
      </p:sp>
      <p:sp>
        <p:nvSpPr>
          <p:cNvPr id="14" name="Text 9"/>
          <p:cNvSpPr/>
          <p:nvPr/>
        </p:nvSpPr>
        <p:spPr>
          <a:xfrm>
            <a:off x="502920" y="651052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Кваліфікаційна атестація наукових спостерігачів ККАМЛР — ДНУ ІРГЕМО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85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II.1 ВИЗНАЧНИКИ — КИТИ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700" b="1" dirty="0">
                <a:solidFill>
                  <a:srgbClr val="0B2E4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Кити й дельфіни Південного океану</a:t>
            </a:r>
            <a:endParaRPr lang="en-US" sz="27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627632"/>
          <a:ext cx="11185855" cy="4361688"/>
        </p:xfrm>
        <a:graphic>
          <a:graphicData uri="http://schemas.openxmlformats.org/drawingml/2006/table">
            <a:tbl>
              <a:tblPr/>
              <a:tblGrid>
                <a:gridCol w="3132039"/>
                <a:gridCol w="4698059"/>
                <a:gridCol w="3355757"/>
              </a:tblGrid>
              <a:tr h="87233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Група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Приклади видів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Розмір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87233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Великі вусаті кити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Синій кит, фінвал, сейвал, горбач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12–27 м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7233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Зубаті кити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Кашалот, плавуни Арну, південний пляшконіс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7–18 м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</a:tr>
              <a:tr h="87233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Дельфіни та морські свині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Пісочний дельфін, окулярна морська свиня, довгоплавцева гринда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1,3–6 м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7233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Косатка (Orcinus orca)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екотипи: A, B, C — різняться раціоном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6,1–9,8 м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02920" y="6053328"/>
            <a:ext cx="11185855" cy="512064"/>
          </a:xfrm>
          <a:prstGeom prst="roundRect">
            <a:avLst>
              <a:gd name="adj" fmla="val 10714"/>
            </a:avLst>
          </a:prstGeom>
          <a:solidFill>
            <a:srgbClr val="FFE9A8"/>
          </a:solidFill>
          <a:ln/>
        </p:spPr>
      </p:sp>
      <p:sp>
        <p:nvSpPr>
          <p:cNvPr id="6" name="Text 3"/>
          <p:cNvSpPr/>
          <p:nvPr/>
        </p:nvSpPr>
        <p:spPr>
          <a:xfrm>
            <a:off x="667512" y="6053328"/>
            <a:ext cx="10856671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C4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видів китоподібних загалом за постером ASOC «Southern Ocean whales and dolphins». Три типи косаток мають різний основний раціон і мають розрізнятися при спостереженні.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502920" y="651052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Кваліфікаційна атестація наукових спостерігачів ККАМЛР — ДНУ ІРГЕМО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85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II.2 КАРТКИ ВИДІВ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700" b="1" dirty="0">
                <a:solidFill>
                  <a:srgbClr val="0B2E4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Довідкова база видів для швидкого розпізнавання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2590724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CE4EB"/>
            </a:solidFill>
            <a:prstDash val="solid"/>
          </a:ln>
          <a:effectLst>
            <a:outerShdw sx="100000" sy="100000" kx="0" ky="0" algn="bl" rotWithShape="0" blurRad="101600" dist="38100" dir="5400000">
              <a:srgbClr val="0B2E4E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856232"/>
            <a:ext cx="23164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F4E79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553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640080" y="2651760"/>
            <a:ext cx="23164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3A4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видових коди в офіційному довіднику CCAMLR (аркуш форми C2)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367964" y="1691640"/>
            <a:ext cx="2590724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CE4EB"/>
            </a:solidFill>
            <a:prstDash val="solid"/>
          </a:ln>
          <a:effectLst>
            <a:outerShdw sx="100000" sy="100000" kx="0" ky="0" algn="bl" rotWithShape="0" blurRad="101600" dist="38100" dir="5400000">
              <a:srgbClr val="0B2E4E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505124" y="1856232"/>
            <a:ext cx="23164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F4E79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30 / 11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3505124" y="2651760"/>
            <a:ext cx="23164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3A4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видів / родин риб у визначнику моря Росса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33008" y="1691640"/>
            <a:ext cx="2590724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CE4EB"/>
            </a:solidFill>
            <a:prstDash val="solid"/>
          </a:ln>
          <a:effectLst>
            <a:outerShdw sx="100000" sy="100000" kx="0" ky="0" algn="bl" rotWithShape="0" blurRad="101600" dist="38100" dir="5400000">
              <a:srgbClr val="0B2E4E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370168" y="1856232"/>
            <a:ext cx="23164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F4E79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6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6370168" y="2651760"/>
            <a:ext cx="23164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3A4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видів ластоногих з протоколами статі й промірів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098051" y="1691640"/>
            <a:ext cx="2590724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CE4EB"/>
            </a:solidFill>
            <a:prstDash val="solid"/>
          </a:ln>
          <a:effectLst>
            <a:outerShdw sx="100000" sy="100000" kx="0" ky="0" algn="bl" rotWithShape="0" blurRad="101600" dist="38100" dir="5400000">
              <a:srgbClr val="0B2E4E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235211" y="1856232"/>
            <a:ext cx="23164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F4E79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14</a:t>
            </a:r>
            <a:endParaRPr lang="en-US" sz="2700" dirty="0"/>
          </a:p>
        </p:txBody>
      </p:sp>
      <p:sp>
        <p:nvSpPr>
          <p:cNvPr id="15" name="Text 13"/>
          <p:cNvSpPr/>
          <p:nvPr/>
        </p:nvSpPr>
        <p:spPr>
          <a:xfrm>
            <a:off x="9235211" y="2651760"/>
            <a:ext cx="23164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3A4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видів китоподібних + 3 екотипи косаток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" y="3703320"/>
            <a:ext cx="11185855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2000"/>
              </a:lnSpc>
              <a:spcAft>
                <a:spcPts val="800"/>
              </a:spcAft>
              <a:buSzPct val="100000"/>
              <a:buChar char="▪"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Кожна фотокартка виду прив'язана до конкретного джерела (сторінка офіційного визначника) — це не випадкові фото з інтернету, а перевірені й підписані зображення.</a:t>
            </a:r>
            <a:endParaRPr lang="en-US" sz="1400" dirty="0"/>
          </a:p>
          <a:p>
            <a:pPr marL="228600" indent="-228600">
              <a:lnSpc>
                <a:spcPct val="112000"/>
              </a:lnSpc>
              <a:spcAft>
                <a:spcPts val="800"/>
              </a:spcAft>
              <a:buSzPct val="100000"/>
              <a:buChar char="▪"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кодів без власного фото в наданих документах картка посилається на найближчий рід/родину або на перевірене зовнішнє джерело (FishBase, iNaturalist, Wikimedia Commons із зазначенням ліцензії).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02920" y="651052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Кваліфікаційна атестація наукових спостерігачів ККАМЛР — ДНУ ІРГЕМО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85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II.3 ЗНАРЯДДЯ ЛОВУ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700" b="1" dirty="0">
                <a:solidFill>
                  <a:srgbClr val="0B2E4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Ярусна снасть: три конфігурації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627632"/>
            <a:ext cx="3545738" cy="2852928"/>
          </a:xfrm>
          <a:prstGeom prst="roundRect">
            <a:avLst>
              <a:gd name="adj" fmla="val 1603"/>
            </a:avLst>
          </a:prstGeom>
          <a:solidFill>
            <a:srgbClr val="FFFFFF"/>
          </a:solidFill>
          <a:ln w="12700">
            <a:solidFill>
              <a:srgbClr val="DCE4EB"/>
            </a:solidFill>
            <a:prstDash val="solid"/>
          </a:ln>
        </p:spPr>
      </p:sp>
      <p:pic>
        <p:nvPicPr>
          <p:cNvPr id="5" name="Image 0" descr="/sessions/inspiring-blissful-dirac/mnt/outputs/pptx_build/assets/gear_longline_autolin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94360" y="1719072"/>
            <a:ext cx="3362858" cy="26700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4507992"/>
            <a:ext cx="35457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Autoline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4322978" y="1627632"/>
            <a:ext cx="3545738" cy="2852928"/>
          </a:xfrm>
          <a:prstGeom prst="roundRect">
            <a:avLst>
              <a:gd name="adj" fmla="val 1603"/>
            </a:avLst>
          </a:prstGeom>
          <a:solidFill>
            <a:srgbClr val="FFFFFF"/>
          </a:solidFill>
          <a:ln w="12700">
            <a:solidFill>
              <a:srgbClr val="DCE4EB"/>
            </a:solidFill>
            <a:prstDash val="solid"/>
          </a:ln>
        </p:spPr>
      </p:sp>
      <p:pic>
        <p:nvPicPr>
          <p:cNvPr id="8" name="Image 1" descr="/sessions/inspiring-blissful-dirac/mnt/outputs/pptx_build/assets/gear_longline_spanish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414418" y="1719072"/>
            <a:ext cx="3362858" cy="267004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322978" y="4507992"/>
            <a:ext cx="35457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Spanish line</a:t>
            </a:r>
            <a:endParaRPr lang="en-US" sz="950" dirty="0"/>
          </a:p>
        </p:txBody>
      </p:sp>
      <p:sp>
        <p:nvSpPr>
          <p:cNvPr id="10" name="Shape 6"/>
          <p:cNvSpPr/>
          <p:nvPr/>
        </p:nvSpPr>
        <p:spPr>
          <a:xfrm>
            <a:off x="8143037" y="1627632"/>
            <a:ext cx="3545738" cy="2852928"/>
          </a:xfrm>
          <a:prstGeom prst="roundRect">
            <a:avLst>
              <a:gd name="adj" fmla="val 1603"/>
            </a:avLst>
          </a:prstGeom>
          <a:solidFill>
            <a:srgbClr val="FFFFFF"/>
          </a:solidFill>
          <a:ln w="12700">
            <a:solidFill>
              <a:srgbClr val="DCE4EB"/>
            </a:solidFill>
            <a:prstDash val="solid"/>
          </a:ln>
        </p:spPr>
      </p:sp>
      <p:pic>
        <p:nvPicPr>
          <p:cNvPr id="11" name="Image 2" descr="/sessions/inspiring-blissful-dirac/mnt/outputs/pptx_build/assets/gear_longline_trotline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234477" y="1719072"/>
            <a:ext cx="3362858" cy="267004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143037" y="4507992"/>
            <a:ext cx="35457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Trotline</a:t>
            </a:r>
            <a:endParaRPr lang="en-US" sz="950" dirty="0"/>
          </a:p>
        </p:txBody>
      </p:sp>
      <p:sp>
        <p:nvSpPr>
          <p:cNvPr id="13" name="Text 8"/>
          <p:cNvSpPr/>
          <p:nvPr/>
        </p:nvSpPr>
        <p:spPr>
          <a:xfrm>
            <a:off x="502920" y="4937760"/>
            <a:ext cx="11185855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0000"/>
              </a:lnSpc>
              <a:spcAft>
                <a:spcPts val="500"/>
              </a:spcAft>
              <a:buSzPct val="100000"/>
              <a:buChar char="▪"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Autoline — донний ярус з одинарною обваженою головною лінією, гачки на коротких снудах, механічне наживлення під час постановки.</a:t>
            </a:r>
            <a:endParaRPr lang="en-US" sz="1250" dirty="0"/>
          </a:p>
          <a:p>
            <a:pPr marL="228600" indent="-228600">
              <a:lnSpc>
                <a:spcPct val="110000"/>
              </a:lnSpc>
              <a:spcAft>
                <a:spcPts val="500"/>
              </a:spcAft>
              <a:buSzPct val="100000"/>
              <a:buChar char="▪"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Spanish line (іспанська снасть) — донний ярус з додатковою становою лінією, приєднаною до головної.</a:t>
            </a:r>
            <a:endParaRPr lang="en-US" sz="1250" dirty="0"/>
          </a:p>
          <a:p>
            <a:pPr marL="228600" indent="-228600">
              <a:lnSpc>
                <a:spcPct val="110000"/>
              </a:lnSpc>
              <a:spcAft>
                <a:spcPts val="500"/>
              </a:spcAft>
              <a:buSzPct val="100000"/>
              <a:buChar char="▪"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Trotline (тротлайн) — кластери наживлених гачків прикріплені до плавучої головної лінії через троти (дропер-лінії).</a:t>
            </a:r>
            <a:endParaRPr lang="en-US" sz="1250" dirty="0"/>
          </a:p>
        </p:txBody>
      </p:sp>
      <p:sp>
        <p:nvSpPr>
          <p:cNvPr id="14" name="Text 9"/>
          <p:cNvSpPr/>
          <p:nvPr/>
        </p:nvSpPr>
        <p:spPr>
          <a:xfrm>
            <a:off x="502920" y="651052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Кваліфікаційна атестація наукових спостерігачів ККАМЛР — ДНУ ІРГЕМО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85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II.3 ЗНАРЯДДЯ ЛОВУ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700" b="1" dirty="0">
                <a:solidFill>
                  <a:srgbClr val="0B2E4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Трали, пастки та пристрої виключення ссавців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627632"/>
            <a:ext cx="3545738" cy="2852928"/>
          </a:xfrm>
          <a:prstGeom prst="roundRect">
            <a:avLst>
              <a:gd name="adj" fmla="val 1603"/>
            </a:avLst>
          </a:prstGeom>
          <a:solidFill>
            <a:srgbClr val="FFFFFF"/>
          </a:solidFill>
          <a:ln w="12700">
            <a:solidFill>
              <a:srgbClr val="DCE4EB"/>
            </a:solidFill>
            <a:prstDash val="solid"/>
          </a:ln>
        </p:spPr>
      </p:sp>
      <p:pic>
        <p:nvPicPr>
          <p:cNvPr id="5" name="Image 0" descr="/sessions/inspiring-blissful-dirac/mnt/outputs/pptx_build/assets/gear_trawl_beam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94360" y="1719072"/>
            <a:ext cx="3362858" cy="26700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4507992"/>
            <a:ext cx="35457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Пелагічний беам-трал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4322978" y="1627632"/>
            <a:ext cx="3545738" cy="2852928"/>
          </a:xfrm>
          <a:prstGeom prst="roundRect">
            <a:avLst>
              <a:gd name="adj" fmla="val 1603"/>
            </a:avLst>
          </a:prstGeom>
          <a:solidFill>
            <a:srgbClr val="FFFFFF"/>
          </a:solidFill>
          <a:ln w="12700">
            <a:solidFill>
              <a:srgbClr val="DCE4EB"/>
            </a:solidFill>
            <a:prstDash val="solid"/>
          </a:ln>
        </p:spPr>
      </p:sp>
      <p:pic>
        <p:nvPicPr>
          <p:cNvPr id="8" name="Image 1" descr="/sessions/inspiring-blissful-dirac/mnt/outputs/pptx_build/assets/gear_pot_beehive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414418" y="1719072"/>
            <a:ext cx="3362858" cy="267004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322978" y="4507992"/>
            <a:ext cx="35457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Пастка «вулик»</a:t>
            </a:r>
            <a:endParaRPr lang="en-US" sz="950" dirty="0"/>
          </a:p>
        </p:txBody>
      </p:sp>
      <p:sp>
        <p:nvSpPr>
          <p:cNvPr id="10" name="Shape 6"/>
          <p:cNvSpPr/>
          <p:nvPr/>
        </p:nvSpPr>
        <p:spPr>
          <a:xfrm>
            <a:off x="8143037" y="1627632"/>
            <a:ext cx="3545738" cy="2852928"/>
          </a:xfrm>
          <a:prstGeom prst="roundRect">
            <a:avLst>
              <a:gd name="adj" fmla="val 1603"/>
            </a:avLst>
          </a:prstGeom>
          <a:solidFill>
            <a:srgbClr val="FFFFFF"/>
          </a:solidFill>
          <a:ln w="12700">
            <a:solidFill>
              <a:srgbClr val="DCE4EB"/>
            </a:solidFill>
            <a:prstDash val="solid"/>
          </a:ln>
        </p:spPr>
      </p:sp>
      <p:pic>
        <p:nvPicPr>
          <p:cNvPr id="11" name="Image 2" descr="/sessions/inspiring-blissful-dirac/mnt/outputs/pptx_build/assets/gear_exclusion_gri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234477" y="1719072"/>
            <a:ext cx="3362858" cy="267004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143037" y="4507992"/>
            <a:ext cx="35457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Решітка-виключувач</a:t>
            </a:r>
            <a:endParaRPr lang="en-US" sz="950" dirty="0"/>
          </a:p>
        </p:txBody>
      </p:sp>
      <p:sp>
        <p:nvSpPr>
          <p:cNvPr id="13" name="Text 8"/>
          <p:cNvSpPr/>
          <p:nvPr/>
        </p:nvSpPr>
        <p:spPr>
          <a:xfrm>
            <a:off x="502920" y="4937760"/>
            <a:ext cx="11185855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0000"/>
              </a:lnSpc>
              <a:spcAft>
                <a:spcPts val="500"/>
              </a:spcAft>
              <a:buSzPct val="100000"/>
              <a:buChar char="▪"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Трали (Trawl: midwater beam / otter) — використовуються переважно для промислу криля з безперервною системою відкачування улову.</a:t>
            </a:r>
            <a:endParaRPr lang="en-US" sz="1250" dirty="0"/>
          </a:p>
          <a:p>
            <a:pPr marL="228600" indent="-228600">
              <a:lnSpc>
                <a:spcPct val="110000"/>
              </a:lnSpc>
              <a:spcAft>
                <a:spcPts val="500"/>
              </a:spcAft>
              <a:buSzPct val="100000"/>
              <a:buChar char="▪"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Пастки (Pot) — конфігурації «вулик» і прямокутна; історично застосовувалися на дослідницькому промислі крабів.</a:t>
            </a:r>
            <a:endParaRPr lang="en-US" sz="1250" dirty="0"/>
          </a:p>
          <a:p>
            <a:pPr marL="228600" indent="-228600">
              <a:lnSpc>
                <a:spcPct val="110000"/>
              </a:lnSpc>
              <a:spcAft>
                <a:spcPts val="500"/>
              </a:spcAft>
              <a:buSzPct val="100000"/>
              <a:buChar char="▪"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Пристрої виключення морських ссавців (Exclusion Device) — сітчаста панель або решітка, обов'язкові для тралового промислу за CM 25-03.</a:t>
            </a:r>
            <a:endParaRPr lang="en-US" sz="1250" dirty="0"/>
          </a:p>
        </p:txBody>
      </p:sp>
      <p:sp>
        <p:nvSpPr>
          <p:cNvPr id="14" name="Text 9"/>
          <p:cNvSpPr/>
          <p:nvPr/>
        </p:nvSpPr>
        <p:spPr>
          <a:xfrm>
            <a:off x="502920" y="651052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Кваліфікаційна атестація наукових спостерігачів ККАМЛР — ДНУ ІРГЕМО</a:t>
            </a:r>
            <a:endParaRPr lang="en-US" sz="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85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II.4 КРИЛЬ, КАЛЬМАРИ, КРАБИ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700" b="1" dirty="0">
                <a:solidFill>
                  <a:srgbClr val="0B2E4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Промисел антарктичного криля (Euphausia superba)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2590724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CE4EB"/>
            </a:solidFill>
            <a:prstDash val="solid"/>
          </a:ln>
          <a:effectLst>
            <a:outerShdw sx="100000" sy="100000" kx="0" ky="0" algn="bl" rotWithShape="0" blurRad="101600" dist="38100" dir="5400000">
              <a:srgbClr val="0B2E4E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856232"/>
            <a:ext cx="23164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F4E79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5,61 млн т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640080" y="2651760"/>
            <a:ext cx="23164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3A4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застережний ліміт,</a:t>
            </a:r>
            <a:endParaRPr lang="en-US" sz="11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3A4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підрайони 48.1–48.4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367964" y="1691640"/>
            <a:ext cx="2590724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CE4EB"/>
            </a:solidFill>
            <a:prstDash val="solid"/>
          </a:ln>
          <a:effectLst>
            <a:outerShdw sx="100000" sy="100000" kx="0" ky="0" algn="bl" rotWithShape="0" blurRad="101600" dist="38100" dir="5400000">
              <a:srgbClr val="0B2E4E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505124" y="1856232"/>
            <a:ext cx="23164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F4E79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620 000 т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3505124" y="2651760"/>
            <a:ext cx="23164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3A4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тригерний рівень</a:t>
            </a:r>
            <a:endParaRPr lang="en-US" sz="11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3A4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(CM 51-01)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33008" y="1691640"/>
            <a:ext cx="2590724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CE4EB"/>
            </a:solidFill>
            <a:prstDash val="solid"/>
          </a:ln>
          <a:effectLst>
            <a:outerShdw sx="100000" sy="100000" kx="0" ky="0" algn="bl" rotWithShape="0" blurRad="101600" dist="38100" dir="5400000">
              <a:srgbClr val="0B2E4E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370168" y="1856232"/>
            <a:ext cx="23164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F4E79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≈624 918 т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6370168" y="2651760"/>
            <a:ext cx="23164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3A4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фактичний вилов</a:t>
            </a:r>
            <a:endParaRPr lang="en-US" sz="11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3A4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р. — рекорд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098051" y="1691640"/>
            <a:ext cx="2590724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CE4EB"/>
            </a:solidFill>
            <a:prstDash val="solid"/>
          </a:ln>
          <a:effectLst>
            <a:outerShdw sx="100000" sy="100000" kx="0" ky="0" algn="bl" rotWithShape="0" blurRad="101600" dist="38100" dir="5400000">
              <a:srgbClr val="0B2E4E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235211" y="1856232"/>
            <a:ext cx="23164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F4E79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з 01.08.2026</a:t>
            </a:r>
            <a:endParaRPr lang="en-US" sz="2700" dirty="0"/>
          </a:p>
        </p:txBody>
      </p:sp>
      <p:sp>
        <p:nvSpPr>
          <p:cNvPr id="15" name="Text 13"/>
          <p:cNvSpPr/>
          <p:nvPr/>
        </p:nvSpPr>
        <p:spPr>
          <a:xfrm>
            <a:off x="9235211" y="2651760"/>
            <a:ext cx="23164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3A4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закриття промислу</a:t>
            </a:r>
            <a:endParaRPr lang="en-US" sz="11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3A4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 Підрайоні 48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" y="3703320"/>
            <a:ext cx="11185855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2000"/>
              </a:lnSpc>
              <a:spcAft>
                <a:spcPts val="800"/>
              </a:spcAft>
              <a:buSzPct val="100000"/>
              <a:buChar char="▪"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Найбільший за обсягом (у тоннах) промисел зони ККАМЛР; ведеться пелагічним/беам-тралом з безперервною системою відкачування улову просто під час тралення.</a:t>
            </a:r>
            <a:endParaRPr lang="en-US" sz="1400" dirty="0"/>
          </a:p>
          <a:p>
            <a:pPr marL="228600" indent="-228600">
              <a:lnSpc>
                <a:spcPct val="112000"/>
              </a:lnSpc>
              <a:spcAft>
                <a:spcPts val="800"/>
              </a:spcAft>
              <a:buSzPct val="100000"/>
              <a:buChar char="▪"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Після досягнення тригерного рівня застосовується розподіл ліміту по дрібніших Small-Scale Management Units (SSMU), щоб уникнути локального виснаження запасу біля колоній хижаків.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02920" y="651052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Кваліфікаційна атестація наукових спостерігачів ККАМЛР — ДНУ ІРГЕМО</a:t>
            </a:r>
            <a:endParaRPr lang="en-US" sz="8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85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II.4 КРИЛЬ, КАЛЬМАРИ, КРАБИ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700" b="1" dirty="0">
                <a:solidFill>
                  <a:srgbClr val="0B2E4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Кальмари й краби: дослідницькі промисли без активного флоту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600200"/>
            <a:ext cx="5364328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Кальмар Martialia hyadesi — дослідницький лов вівся в 1990-х джиґінгом (без наживки, зі світловими приваблювачами).</a:t>
            </a:r>
            <a:endParaRPr lang="en-US" sz="1450" dirty="0"/>
          </a:p>
          <a:p>
            <a:pPr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Колишній захід CM 61-01 втратив чинність у 2009 р.; комерційного флоту на кальмара в зоні ККАМЛР зараз немає.</a:t>
            </a:r>
            <a:endParaRPr lang="en-US" sz="1450" dirty="0"/>
          </a:p>
          <a:p>
            <a:pPr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Гігантський кальмар частіше трапляється спостерігачу як прилов на ярусному промислі іклача, ніж як цільовий об'єкт.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324448" y="1600200"/>
            <a:ext cx="5364328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Краби роду Paralomis — дослідницький промисел пастками вівся в 2000-х (CM 52-01/52-02/52-03), визнаний нежиттєздатним, не поновлювався з 2010 р.</a:t>
            </a:r>
            <a:endParaRPr lang="en-US" sz="1450" dirty="0"/>
          </a:p>
          <a:p>
            <a:pPr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Крижана риба (Champsocephalus gunnari) — стабільний, але суттєво менший за обсягом промисел, зосереджений переважно в підрайоні 48.3.</a:t>
            </a:r>
            <a:endParaRPr lang="en-US" sz="1450" dirty="0"/>
          </a:p>
          <a:p>
            <a:pPr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Якщо будь-який із цих промислів відновиться, знадобиться нова дослідницька фаза з окремим науковим протоколом і новим заходом Комісії.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502920" y="651052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Кваліфікаційна атестація наукових спостерігачів ККАМЛР — ДНУ ІРГЕМО</a:t>
            </a:r>
            <a:endParaRPr lang="en-US" sz="8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85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II.5 ВРАЗЛИВІ МОРСЬКІ ЕКОСИСТЕМИ (VME)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700" b="1" dirty="0">
                <a:solidFill>
                  <a:srgbClr val="0B2E4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Визначник таксонів-індикаторів ВМЕ</a:t>
            </a:r>
            <a:endParaRPr lang="en-US" sz="2700" dirty="0"/>
          </a:p>
        </p:txBody>
      </p:sp>
      <p:pic>
        <p:nvPicPr>
          <p:cNvPr id="4" name="Image 0" descr="/sessions/inspiring-blissful-dirac/mnt/outputs/pptx_build/assets/vme1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1600200"/>
            <a:ext cx="4160520" cy="46634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291072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CCAMLR VME Taxa Classification Guide 2023, сторінка 1: Cnidaria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5120640" y="1600200"/>
            <a:ext cx="6568135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ВМЕ — скупчення довгоживучих, повільно зростаючих і структурно складних донних організмів, що легко пошкоджуються знаряддям лову й повільно відновлюються.</a:t>
            </a:r>
            <a:endParaRPr lang="en-US" sz="1450" dirty="0"/>
          </a:p>
          <a:p>
            <a:pPr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коди таксонів-індикаторів у групах: Cnidaria (горгонарії, корали, гідроїди), Porifera (губки), Chordata (асцидії), Bryozoa (мохуватки), Echinodermata та інші.</a:t>
            </a:r>
            <a:endParaRPr lang="en-US" sz="1450" dirty="0"/>
          </a:p>
          <a:p>
            <a:pPr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Явно виключені з індикаторних груп, попри поширений прилов: окремі групи, прямо позначені «not included» на кожній сторінці визначника.</a:t>
            </a:r>
            <a:endParaRPr lang="en-US" sz="1450" dirty="0"/>
          </a:p>
          <a:p>
            <a:pPr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Регулюючі заходи: CM 22-06/22-07 — донний промисел і потенційні ВМЕ; CM 22-09 — захист зареєстрованих ВМЕ.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502920" y="651052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Кваліфікаційна атестація наукових спостерігачів ККАМЛР — ДНУ ІРГЕМО</a:t>
            </a:r>
            <a:endParaRPr lang="en-US" sz="8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85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II.5 ВРАЗЛИВІ МОРСЬКІ ЕКОСИСТЕМИ (VME)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700" b="1" dirty="0">
                <a:solidFill>
                  <a:srgbClr val="0B2E4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Правила обов'язкового обліку ВМЕ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2590724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CE4EB"/>
            </a:solidFill>
            <a:prstDash val="solid"/>
          </a:ln>
          <a:effectLst>
            <a:outerShdw sx="100000" sy="100000" kx="0" ky="0" algn="bl" rotWithShape="0" blurRad="101600" dist="38100" dir="5400000">
              <a:srgbClr val="0B2E4E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856232"/>
            <a:ext cx="23164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F4E79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1000 гачків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640080" y="2651760"/>
            <a:ext cx="23164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3A4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сегмент лінії</a:t>
            </a:r>
            <a:endParaRPr lang="en-US" sz="11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3A4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(або 1200 м, коротше)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367964" y="1691640"/>
            <a:ext cx="2590724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CE4EB"/>
            </a:solidFill>
            <a:prstDash val="solid"/>
          </a:ln>
          <a:effectLst>
            <a:outerShdw sx="100000" sy="100000" kx="0" ky="0" algn="bl" rotWithShape="0" blurRad="101600" dist="38100" dir="5400000">
              <a:srgbClr val="0B2E4E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505124" y="1856232"/>
            <a:ext cx="23164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F4E79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≈30%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3505124" y="2651760"/>
            <a:ext cx="23164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3A4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сегментів —</a:t>
            </a:r>
            <a:endParaRPr lang="en-US" sz="11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3A4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випадкова вибірка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33008" y="1691640"/>
            <a:ext cx="2590724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CE4EB"/>
            </a:solidFill>
            <a:prstDash val="solid"/>
          </a:ln>
          <a:effectLst>
            <a:outerShdw sx="100000" sy="100000" kx="0" ky="0" algn="bl" rotWithShape="0" blurRad="101600" dist="38100" dir="5400000">
              <a:srgbClr val="0B2E4E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370168" y="1856232"/>
            <a:ext cx="23164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F4E79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≥5 одиниць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6370168" y="2651760"/>
            <a:ext cx="23164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3A4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тригерний рівень</a:t>
            </a:r>
            <a:endParaRPr lang="en-US" sz="11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3A4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сегмент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098051" y="1691640"/>
            <a:ext cx="2590724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CE4EB"/>
            </a:solidFill>
            <a:prstDash val="solid"/>
          </a:ln>
          <a:effectLst>
            <a:outerShdw sx="100000" sy="100000" kx="0" ky="0" algn="bl" rotWithShape="0" blurRad="101600" dist="38100" dir="5400000">
              <a:srgbClr val="0B2E4E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235211" y="1856232"/>
            <a:ext cx="23164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F4E79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 миля</a:t>
            </a:r>
            <a:endParaRPr lang="en-US" sz="2700" dirty="0"/>
          </a:p>
        </p:txBody>
      </p:sp>
      <p:sp>
        <p:nvSpPr>
          <p:cNvPr id="15" name="Text 13"/>
          <p:cNvSpPr/>
          <p:nvPr/>
        </p:nvSpPr>
        <p:spPr>
          <a:xfrm>
            <a:off x="9235211" y="2651760"/>
            <a:ext cx="23164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3A4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радіус ризикової</a:t>
            </a:r>
            <a:endParaRPr lang="en-US" sz="11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3A4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зони (≥10 одиниць)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" y="3703320"/>
            <a:ext cx="11185855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2000"/>
              </a:lnSpc>
              <a:spcAft>
                <a:spcPts val="800"/>
              </a:spcAft>
              <a:buSzPct val="100000"/>
              <a:buChar char="▪"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Одиниця-індикатор ВМЕ = 1 літр організмів у 10-літровому контейнері АБО 1 кг для гіллястих видів (наприклад, горгонарій), що не поміщаються в об'єм.</a:t>
            </a:r>
            <a:endParaRPr lang="en-US" sz="1400" dirty="0"/>
          </a:p>
          <a:p>
            <a:pPr marL="228600" indent="-228600">
              <a:lnSpc>
                <a:spcPct val="112000"/>
              </a:lnSpc>
              <a:spcAft>
                <a:spcPts val="800"/>
              </a:spcAft>
              <a:buSzPct val="100000"/>
              <a:buChar char="▪"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Якщо випадкова проба виявилася більшою за 5 одиниць, вона все одно вноситься в форму як «Random», а не переноситься заднім числом у «Trigger».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02920" y="651052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Кваліфікаційна атестація наукових спостерігачів ККАМЛР — ДНУ ІРГЕМО</a:t>
            </a:r>
            <a:endParaRPr lang="en-US" sz="8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85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II.6 МІЧЕННЯ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700" b="1" dirty="0">
                <a:solidFill>
                  <a:srgbClr val="0B2E4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Мічення іклача та скатів: процедура</a:t>
            </a:r>
            <a:endParaRPr lang="en-US" sz="2700" dirty="0"/>
          </a:p>
        </p:txBody>
      </p:sp>
      <p:pic>
        <p:nvPicPr>
          <p:cNvPr id="4" name="Image 0" descr="/sessions/inspiring-blissful-dirac/mnt/outputs/pptx_build/assets/tag_fig13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1600200"/>
            <a:ext cx="4160520" cy="46634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291072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Рис. з посібника CCAMLR: нанесення мітки на іклача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5120640" y="1600200"/>
            <a:ext cx="6568135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Мітку іклачу вводять під кутом у другий спинний плавець; Т-подібний стрижень фіксується за променями плавця вістрям назад, після — легкий натяг для перевірки.</a:t>
            </a:r>
            <a:endParaRPr lang="en-US" sz="1450" dirty="0"/>
          </a:p>
          <a:p>
            <a:pPr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Скатів мітять у м'яз кожного крила з боку очей, вводячи мітку прямовисно між променями.</a:t>
            </a:r>
            <a:endParaRPr lang="en-US" sz="1450" dirty="0"/>
          </a:p>
          <a:p>
            <a:pPr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Загальний час риби поза водою — не більше 3 хвилин; використання накопичувального резервуара мінімізується (об'єм риби ≤10% об'єму води).</a:t>
            </a:r>
            <a:endParaRPr lang="en-US" sz="1450" dirty="0"/>
          </a:p>
          <a:p>
            <a:pPr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Риба НЕ підлягає міченню за низкою критеріїв: гачкові ушкодження поза ротом, рожеві/білі зябра, відкриті рани, відсутність рухової активності та інші.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502920" y="651052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Кваліфікаційна атестація наукових спостерігачів ККАМЛР — ДНУ ІРГЕМО</a:t>
            </a:r>
            <a:endParaRPr lang="en-US" sz="8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85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II.6 МІЧЕННЯ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700" b="1" dirty="0">
                <a:solidFill>
                  <a:srgbClr val="0B2E4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Програма мічення CCAMLR — статистика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2590724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CE4EB"/>
            </a:solidFill>
            <a:prstDash val="solid"/>
          </a:ln>
          <a:effectLst>
            <a:outerShdw sx="100000" sy="100000" kx="0" ky="0" algn="bl" rotWithShape="0" blurRad="101600" dist="38100" dir="5400000">
              <a:srgbClr val="0B2E4E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856232"/>
            <a:ext cx="23164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F4E79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з 2007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640080" y="2651760"/>
            <a:ext cx="23164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3A4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рік запуску</a:t>
            </a:r>
            <a:endParaRPr lang="en-US" sz="11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3A4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програми мічення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367964" y="1691640"/>
            <a:ext cx="2590724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CE4EB"/>
            </a:solidFill>
            <a:prstDash val="solid"/>
          </a:ln>
          <a:effectLst>
            <a:outerShdw sx="100000" sy="100000" kx="0" ky="0" algn="bl" rotWithShape="0" blurRad="101600" dist="38100" dir="5400000">
              <a:srgbClr val="0B2E4E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505124" y="1856232"/>
            <a:ext cx="23164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F4E79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404 559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3505124" y="2651760"/>
            <a:ext cx="23164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3A4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позначено іклача</a:t>
            </a:r>
            <a:endParaRPr lang="en-US" sz="11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3A4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(12% повторний вилов)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33008" y="1691640"/>
            <a:ext cx="2590724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CE4EB"/>
            </a:solidFill>
            <a:prstDash val="solid"/>
          </a:ln>
          <a:effectLst>
            <a:outerShdw sx="100000" sy="100000" kx="0" ky="0" algn="bl" rotWithShape="0" blurRad="101600" dist="38100" dir="5400000">
              <a:srgbClr val="0B2E4E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370168" y="1856232"/>
            <a:ext cx="23164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F4E79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71 444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6370168" y="2651760"/>
            <a:ext cx="23164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3A4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позначено скатів</a:t>
            </a:r>
            <a:endParaRPr lang="en-US" sz="11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3A4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(3% повторний вилов)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098051" y="1691640"/>
            <a:ext cx="2590724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CE4EB"/>
            </a:solidFill>
            <a:prstDash val="solid"/>
          </a:ln>
          <a:effectLst>
            <a:outerShdw sx="100000" sy="100000" kx="0" ky="0" algn="bl" rotWithShape="0" blurRad="101600" dist="38100" dir="5400000">
              <a:srgbClr val="0B2E4E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235211" y="1856232"/>
            <a:ext cx="23164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F4E79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60% / 80%</a:t>
            </a:r>
            <a:endParaRPr lang="en-US" sz="2700" dirty="0"/>
          </a:p>
        </p:txBody>
      </p:sp>
      <p:sp>
        <p:nvSpPr>
          <p:cNvPr id="15" name="Text 13"/>
          <p:cNvSpPr/>
          <p:nvPr/>
        </p:nvSpPr>
        <p:spPr>
          <a:xfrm>
            <a:off x="9235211" y="2651760"/>
            <a:ext cx="23164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3A4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мінімум / ціль</a:t>
            </a:r>
            <a:endParaRPr lang="en-US" sz="11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3A4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статистики перекриття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" y="3703320"/>
            <a:ext cx="11185855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2000"/>
              </a:lnSpc>
              <a:spcAft>
                <a:spcPts val="800"/>
              </a:spcAft>
              <a:buSzPct val="100000"/>
              <a:buChar char="▪"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 повторному вилові — обов'язкове якісне фото мітки in situ на фоні офіційного шаблону-лінійки CCAMLR; фізичну мітку повертати поштою не потрібно.</a:t>
            </a:r>
            <a:endParaRPr lang="en-US" sz="1400" dirty="0"/>
          </a:p>
          <a:p>
            <a:pPr marL="228600" indent="-228600">
              <a:lnSpc>
                <a:spcPct val="112000"/>
              </a:lnSpc>
              <a:spcAft>
                <a:spcPts val="800"/>
              </a:spcAft>
              <a:buSzPct val="100000"/>
              <a:buChar char="▪"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Статистика перекриття (θ, CM 41-01 Додаток C) оцінює відповідність розподілу довжин мічених риб розподілу довжин виловлених — розраховується спеціальним калькулятором.</a:t>
            </a:r>
            <a:endParaRPr lang="en-US" sz="1400" dirty="0"/>
          </a:p>
          <a:p>
            <a:pPr marL="228600" indent="-228600">
              <a:lnSpc>
                <a:spcPct val="112000"/>
              </a:lnSpc>
              <a:spcAft>
                <a:spcPts val="800"/>
              </a:spcAft>
              <a:buSzPct val="100000"/>
              <a:buChar char="▪"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Coalition of Legal Toothfish Operators (COLTO) щорічно пропонує приз за знайдені мітки — стимулює екіпажі повідомляти про повторні вилови.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02920" y="651052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Кваліфікаційна атестація наукових спостерігачів ККАМЛР — ДНУ ІРГЕМО</a:t>
            </a:r>
            <a:endParaRPr lang="en-US" sz="8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B2E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6858000"/>
          </a:xfrm>
          <a:prstGeom prst="rect">
            <a:avLst/>
          </a:prstGeom>
          <a:solidFill>
            <a:srgbClr val="163A5C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148840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b="1" dirty="0">
                <a:solidFill>
                  <a:srgbClr val="E0A8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III</a:t>
            </a:r>
            <a:endParaRPr lang="en-US" sz="8800" dirty="0"/>
          </a:p>
        </p:txBody>
      </p:sp>
      <p:sp>
        <p:nvSpPr>
          <p:cNvPr id="4" name="Text 2"/>
          <p:cNvSpPr/>
          <p:nvPr/>
        </p:nvSpPr>
        <p:spPr>
          <a:xfrm>
            <a:off x="502920" y="37033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РОЗДІЛ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703320" y="1965960"/>
            <a:ext cx="798545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Форми спостерігача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3703320" y="3246120"/>
            <a:ext cx="79854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Електронний журнал, звіт про рейс, норми відбору проб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703320" y="39776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A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023360" y="3941064"/>
            <a:ext cx="7665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Електронний ярусний журнал C2 — 9 аркушів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3703320" y="4416552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A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023360" y="4379976"/>
            <a:ext cx="7665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Звіт про рейс — 16 таблиць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3703320" y="4855464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A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023360" y="4818888"/>
            <a:ext cx="7665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Норми біологічного відбору проб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3703320" y="5294376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A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023360" y="5257800"/>
            <a:ext cx="7665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Практика заповнення журналів</a:t>
            </a:r>
            <a:endParaRPr lang="en-US" sz="14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85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III.1 ЕЛЕКТРОННИЙ ЖУРНАЛ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700" b="1" dirty="0">
                <a:solidFill>
                  <a:srgbClr val="0B2E4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Форма en_C2v2026a: 9 аркушів робочої книги</a:t>
            </a:r>
            <a:endParaRPr lang="en-US" sz="27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627632"/>
          <a:ext cx="11185855" cy="4361688"/>
        </p:xfrm>
        <a:graphic>
          <a:graphicData uri="http://schemas.openxmlformats.org/drawingml/2006/table">
            <a:tbl>
              <a:tblPr/>
              <a:tblGrid>
                <a:gridCol w="3579474"/>
                <a:gridCol w="7606382"/>
              </a:tblGrid>
              <a:tr h="4846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Аркуш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Призначення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Vessel and Gear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Дані судна, характеристики знаряддя, деталі стример-ліній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 and Haul Details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Деталі кожної постановки/виборки: унікальний Set/Haul ID, час у UTC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Observed Haul Catch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Спостереження вилову й прилову за випадковий обліковий період (≈25%)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Haul IMAF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Прилов морських птахів і ссавців під час виборки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Marine Mammal Observation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Спостереження ссавців за той самий обліковий період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Haul VME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Дані з індикаторних таксонів ВМЕ по сегментах лінії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Biological Sampling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Довжина, вага, стать, стадія зрілості, отоліти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Conversion Factors / Tagging / Tag Recapture / Waste Disposal / IUU Sightings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Коефіцієнти переведення, мічення, повторний вилов, відходи, спостереження ННН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02920" y="6053328"/>
            <a:ext cx="11185855" cy="512064"/>
          </a:xfrm>
          <a:prstGeom prst="roundRect">
            <a:avLst>
              <a:gd name="adj" fmla="val 10714"/>
            </a:avLst>
          </a:prstGeom>
          <a:solidFill>
            <a:srgbClr val="FFE9A8"/>
          </a:solidFill>
          <a:ln/>
        </p:spPr>
      </p:sp>
      <p:sp>
        <p:nvSpPr>
          <p:cNvPr id="6" name="Text 3"/>
          <p:cNvSpPr/>
          <p:nvPr/>
        </p:nvSpPr>
        <p:spPr>
          <a:xfrm>
            <a:off x="667512" y="6053328"/>
            <a:ext cx="10856671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C4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Дані можна вводити лише в клітинки з білим фоном; для кодів видів і переробки передбачені випадаючі довідкові списки (світло-зелений фон).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502920" y="651052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Кваліфікаційна атестація наукових спостерігачів ККАМЛР — ДНУ ІРГЕМО</a:t>
            </a:r>
            <a:endParaRPr lang="en-US" sz="8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85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III.2 ЗВІТ ПРО РЕЙС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700" b="1" dirty="0">
                <a:solidFill>
                  <a:srgbClr val="0B2E4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Звіт наукового спостерігача про рейс — 16 таблиць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600200"/>
            <a:ext cx="5364328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Загальні дані спостерігача, судна, знаряддя</a:t>
            </a:r>
            <a:endParaRPr lang="en-US" sz="1450" dirty="0"/>
          </a:p>
          <a:p>
            <a:pPr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Підсумок рейсу (описова частина)</a:t>
            </a:r>
            <a:endParaRPr lang="en-US" sz="1450" dirty="0"/>
          </a:p>
          <a:p>
            <a:pPr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Деталі перерви рейсу</a:t>
            </a:r>
            <a:endParaRPr lang="en-US" sz="1450" dirty="0"/>
          </a:p>
          <a:p>
            <a:pPr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Промислові операції — порівняння з нотифікацією</a:t>
            </a:r>
            <a:endParaRPr lang="en-US" sz="1450" dirty="0"/>
          </a:p>
          <a:p>
            <a:pPr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Втрачені знаряддя лову</a:t>
            </a:r>
            <a:endParaRPr lang="en-US" sz="1450" dirty="0"/>
          </a:p>
          <a:p>
            <a:pPr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Деталі вилову — оцінка зеленої ваги</a:t>
            </a:r>
            <a:endParaRPr lang="en-US" sz="1450" dirty="0"/>
          </a:p>
          <a:p>
            <a:pPr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Деталі переробки — коефіцієнти переведення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324448" y="1600200"/>
            <a:ext cx="5364328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Біологічні зразки</a:t>
            </a:r>
            <a:endParaRPr lang="en-US" sz="1450" dirty="0"/>
          </a:p>
          <a:p>
            <a:pPr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Методологія субвибірки, мічення</a:t>
            </a:r>
            <a:endParaRPr lang="en-US" sz="1450" dirty="0"/>
          </a:p>
          <a:p>
            <a:pPr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10–11. Взаємодія з морськими птахами, заплутування</a:t>
            </a:r>
            <a:endParaRPr lang="en-US" sz="1450" dirty="0"/>
          </a:p>
          <a:p>
            <a:pPr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 Взаємодія з морськими ссавцями</a:t>
            </a:r>
            <a:endParaRPr lang="en-US" sz="1450" dirty="0"/>
          </a:p>
          <a:p>
            <a:pPr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 Відходи та сміття</a:t>
            </a:r>
            <a:endParaRPr lang="en-US" sz="1450" dirty="0"/>
          </a:p>
          <a:p>
            <a:pPr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 Спостереження суден і знарядь ННН-промислу</a:t>
            </a:r>
            <a:endParaRPr lang="en-US" sz="1450" dirty="0"/>
          </a:p>
          <a:p>
            <a:pPr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15–16. Додаткова інформація: операційні проблеми, завдання спостерігача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02920" y="6053328"/>
            <a:ext cx="11185855" cy="512064"/>
          </a:xfrm>
          <a:prstGeom prst="roundRect">
            <a:avLst>
              <a:gd name="adj" fmla="val 10714"/>
            </a:avLst>
          </a:prstGeom>
          <a:solidFill>
            <a:srgbClr val="FFE9A8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" y="6053328"/>
            <a:ext cx="10856671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C4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Конфіденційний документ — подається одночасно Секретаріату ККАМЛР і Комісару держави прапора судна. Формулювання щодо потенційних порушень мають бути точними й фактологічними.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02920" y="651052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Кваліфікаційна атестація наукових спостерігачів ККАМЛР — ДНУ ІРГЕМО</a:t>
            </a:r>
            <a:endParaRPr lang="en-US" sz="8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85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III.2 ІНШІ ФОРМИ ЗВІТНОСТІ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700" b="1" dirty="0">
                <a:solidFill>
                  <a:srgbClr val="0B2E4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Довідник переміщення суден і калькулятор мічення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600200"/>
            <a:ext cx="11185855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5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Annex 10-04/A (Довідник переміщення суден) — обов'язкові поля при вході/виході з підрайону: позивний, IMO, координати, час UTC, вид діяльності; перелік 82 суден-ярусоловів.</a:t>
            </a:r>
            <a:endParaRPr lang="en-US" sz="155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5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 Overlap Statistic Calculator v2026 — розраховує статистику перекриття мічення (θ): поріг 60%, ціль 80% (не застосовується при менш ніж 30 мічених рибах).</a:t>
            </a:r>
            <a:endParaRPr lang="en-US" sz="155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5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Обмеження калькулятора: максимум 250 виборок, 6000 вимірів довжини, 1000 записів мічення.</a:t>
            </a:r>
            <a:endParaRPr lang="en-US" sz="155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5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 не інструмент щоденного заповнення, а контрольний розрахунок раз на кілька днів — дозволяє завчасно виявити брак різноманіття розмірів мічених риб.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502920" y="651052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Кваліфікаційна атестація наукових спостерігачів ККАМЛР — ДНУ ІРГЕМО</a:t>
            </a:r>
            <a:endParaRPr lang="en-US" sz="8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85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III.3 НОРМИ ВІДБОРУ ПРОБ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700" b="1" dirty="0">
                <a:solidFill>
                  <a:srgbClr val="0B2E4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Ключові кількісні норми, які варто знати напам'ять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2590724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CE4EB"/>
            </a:solidFill>
            <a:prstDash val="solid"/>
          </a:ln>
          <a:effectLst>
            <a:outerShdw sx="100000" sy="100000" kx="0" ky="0" algn="bl" rotWithShape="0" blurRad="101600" dist="38100" dir="5400000">
              <a:srgbClr val="0B2E4E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856232"/>
            <a:ext cx="23164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F4E79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25%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640080" y="2651760"/>
            <a:ext cx="23164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3A4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рекомендований</a:t>
            </a:r>
            <a:endParaRPr lang="en-US" sz="11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3A4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обліковий період вилову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367964" y="1691640"/>
            <a:ext cx="2590724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CE4EB"/>
            </a:solidFill>
            <a:prstDash val="solid"/>
          </a:ln>
          <a:effectLst>
            <a:outerShdw sx="100000" sy="100000" kx="0" ky="0" algn="bl" rotWithShape="0" blurRad="101600" dist="38100" dir="5400000">
              <a:srgbClr val="0B2E4E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505124" y="1856232"/>
            <a:ext cx="23164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F4E79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7 / 1000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3505124" y="2651760"/>
            <a:ext cx="23164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3A4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риб на 1000 гачків</a:t>
            </a:r>
            <a:endParaRPr lang="en-US" sz="11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3A4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(норма відбору іклача)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33008" y="1691640"/>
            <a:ext cx="2590724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CE4EB"/>
            </a:solidFill>
            <a:prstDash val="solid"/>
          </a:ln>
          <a:effectLst>
            <a:outerShdw sx="100000" sy="100000" kx="0" ky="0" algn="bl" rotWithShape="0" blurRad="101600" dist="38100" dir="5400000">
              <a:srgbClr val="0B2E4E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370168" y="1856232"/>
            <a:ext cx="23164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F4E79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20 риб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6370168" y="2651760"/>
            <a:ext cx="23164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3A4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мінімум для тесту</a:t>
            </a:r>
            <a:endParaRPr lang="en-US" sz="11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3A4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переводного коефіцієнта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098051" y="1691640"/>
            <a:ext cx="2590724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CE4EB"/>
            </a:solidFill>
            <a:prstDash val="solid"/>
          </a:ln>
          <a:effectLst>
            <a:outerShdw sx="100000" sy="100000" kx="0" ky="0" algn="bl" rotWithShape="0" blurRad="101600" dist="38100" dir="5400000">
              <a:srgbClr val="0B2E4E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235211" y="1856232"/>
            <a:ext cx="23164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F4E79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 хв</a:t>
            </a:r>
            <a:endParaRPr lang="en-US" sz="2700" dirty="0"/>
          </a:p>
        </p:txBody>
      </p:sp>
      <p:sp>
        <p:nvSpPr>
          <p:cNvPr id="15" name="Text 13"/>
          <p:cNvSpPr/>
          <p:nvPr/>
        </p:nvSpPr>
        <p:spPr>
          <a:xfrm>
            <a:off x="9235211" y="2651760"/>
            <a:ext cx="23164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3A4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максимум часу риби</a:t>
            </a:r>
            <a:endParaRPr lang="en-US" sz="11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3A4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поза водою при міченні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" y="3703320"/>
            <a:ext cx="11185855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2000"/>
              </a:lnSpc>
              <a:spcAft>
                <a:spcPts val="800"/>
              </a:spcAft>
              <a:buSzPct val="100000"/>
              <a:buChar char="▪"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 35 риб на середню лінію (5000 гачків) — 10 з повним відбором (включно з отолітами), 25 лише з базовими промірами.</a:t>
            </a:r>
            <a:endParaRPr lang="en-US" sz="1400" dirty="0"/>
          </a:p>
          <a:p>
            <a:pPr marL="228600" indent="-228600">
              <a:lnSpc>
                <a:spcPct val="112000"/>
              </a:lnSpc>
              <a:spcAft>
                <a:spcPts val="800"/>
              </a:spcAft>
              <a:buSzPct val="100000"/>
              <a:buChar char="▪"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Тест переводного коефіцієнта повторюється щонайменше раз на тиждень окремо для кожного району управління.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02920" y="651052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Кваліфікаційна атестація наукових спостерігачів ККАМЛР — ДНУ ІРГЕМО</a:t>
            </a:r>
            <a:endParaRPr lang="en-US" sz="8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85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III.4 ЗАПОВНЕННЯ ЖУРНАЛІВ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700" b="1" dirty="0">
                <a:solidFill>
                  <a:srgbClr val="0B2E4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Практичні виміри: приклади з електронного журналу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627632"/>
            <a:ext cx="3545738" cy="2852928"/>
          </a:xfrm>
          <a:prstGeom prst="roundRect">
            <a:avLst>
              <a:gd name="adj" fmla="val 1603"/>
            </a:avLst>
          </a:prstGeom>
          <a:solidFill>
            <a:srgbClr val="FFFFFF"/>
          </a:solidFill>
          <a:ln w="12700">
            <a:solidFill>
              <a:srgbClr val="DCE4EB"/>
            </a:solidFill>
            <a:prstDash val="solid"/>
          </a:ln>
        </p:spPr>
      </p:sp>
      <p:pic>
        <p:nvPicPr>
          <p:cNvPr id="5" name="Image 0" descr="/sessions/inspiring-blissful-dirac/mnt/outputs/pptx_build/assets/logbook_toothfish_measure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94360" y="1719072"/>
            <a:ext cx="3362858" cy="26700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4507992"/>
            <a:ext cx="35457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Вимір іклача: SL і TL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4322978" y="1627632"/>
            <a:ext cx="3545738" cy="2852928"/>
          </a:xfrm>
          <a:prstGeom prst="roundRect">
            <a:avLst>
              <a:gd name="adj" fmla="val 1603"/>
            </a:avLst>
          </a:prstGeom>
          <a:solidFill>
            <a:srgbClr val="FFFFFF"/>
          </a:solidFill>
          <a:ln w="12700">
            <a:solidFill>
              <a:srgbClr val="DCE4EB"/>
            </a:solidFill>
            <a:prstDash val="solid"/>
          </a:ln>
        </p:spPr>
      </p:sp>
      <p:pic>
        <p:nvPicPr>
          <p:cNvPr id="8" name="Image 1" descr="/sessions/inspiring-blissful-dirac/mnt/outputs/pptx_build/assets/logbook_skate_measure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414418" y="1719072"/>
            <a:ext cx="3362858" cy="267004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322978" y="4507992"/>
            <a:ext cx="35457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Вимір скатів: розмах крил (WS)</a:t>
            </a:r>
            <a:endParaRPr lang="en-US" sz="950" dirty="0"/>
          </a:p>
        </p:txBody>
      </p:sp>
      <p:sp>
        <p:nvSpPr>
          <p:cNvPr id="10" name="Shape 6"/>
          <p:cNvSpPr/>
          <p:nvPr/>
        </p:nvSpPr>
        <p:spPr>
          <a:xfrm>
            <a:off x="8143037" y="1627632"/>
            <a:ext cx="3545738" cy="2852928"/>
          </a:xfrm>
          <a:prstGeom prst="roundRect">
            <a:avLst>
              <a:gd name="adj" fmla="val 1603"/>
            </a:avLst>
          </a:prstGeom>
          <a:solidFill>
            <a:srgbClr val="FFFFFF"/>
          </a:solidFill>
          <a:ln w="12700">
            <a:solidFill>
              <a:srgbClr val="DCE4EB"/>
            </a:solidFill>
            <a:prstDash val="solid"/>
          </a:ln>
        </p:spPr>
      </p:sp>
      <p:pic>
        <p:nvPicPr>
          <p:cNvPr id="11" name="Image 2" descr="/sessions/inspiring-blissful-dirac/mnt/outputs/pptx_build/assets/logbook_streamer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234477" y="1719072"/>
            <a:ext cx="3362858" cy="267004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143037" y="4507992"/>
            <a:ext cx="35457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Стример-лінія: висота й крок</a:t>
            </a:r>
            <a:endParaRPr lang="en-US" sz="950" dirty="0"/>
          </a:p>
        </p:txBody>
      </p:sp>
      <p:sp>
        <p:nvSpPr>
          <p:cNvPr id="13" name="Text 8"/>
          <p:cNvSpPr/>
          <p:nvPr/>
        </p:nvSpPr>
        <p:spPr>
          <a:xfrm>
            <a:off x="502920" y="4937760"/>
            <a:ext cx="11185855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0000"/>
              </a:lnSpc>
              <a:spcAft>
                <a:spcPts val="500"/>
              </a:spcAft>
              <a:buSzPct val="100000"/>
              <a:buChar char="▪"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Стандартна довжина (SL) — від писка до кінця хребетного стовпа; загальна довжина (TL) — від писка до кінчика хвоста.</a:t>
            </a:r>
            <a:endParaRPr lang="en-US" sz="1250" dirty="0"/>
          </a:p>
          <a:p>
            <a:pPr marL="228600" indent="-228600">
              <a:lnSpc>
                <a:spcPct val="110000"/>
              </a:lnSpc>
              <a:spcAft>
                <a:spcPts val="500"/>
              </a:spcAft>
              <a:buSzPct val="100000"/>
              <a:buChar char="▪"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Macrourus spp. додатково вимірюється довжина від писка до анусу (SA); для скатів — розмах крил (WS).</a:t>
            </a:r>
            <a:endParaRPr lang="en-US" sz="1250" dirty="0"/>
          </a:p>
        </p:txBody>
      </p:sp>
      <p:sp>
        <p:nvSpPr>
          <p:cNvPr id="14" name="Text 9"/>
          <p:cNvSpPr/>
          <p:nvPr/>
        </p:nvSpPr>
        <p:spPr>
          <a:xfrm>
            <a:off x="502920" y="651052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Кваліфікаційна атестація наукових спостерігачів ККАМЛР — ДНУ ІРГЕМО</a:t>
            </a:r>
            <a:endParaRPr lang="en-US" sz="8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B2E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6858000"/>
          </a:xfrm>
          <a:prstGeom prst="rect">
            <a:avLst/>
          </a:prstGeom>
          <a:solidFill>
            <a:srgbClr val="163A5C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148840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b="1" dirty="0">
                <a:solidFill>
                  <a:srgbClr val="E0A8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IV</a:t>
            </a:r>
            <a:endParaRPr lang="en-US" sz="8800" dirty="0"/>
          </a:p>
        </p:txBody>
      </p:sp>
      <p:sp>
        <p:nvSpPr>
          <p:cNvPr id="4" name="Text 2"/>
          <p:cNvSpPr/>
          <p:nvPr/>
        </p:nvSpPr>
        <p:spPr>
          <a:xfrm>
            <a:off x="502920" y="37033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РОЗДІЛ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703320" y="1965960"/>
            <a:ext cx="798545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Довідники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3703320" y="3246120"/>
            <a:ext cx="79854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Бібліотека документів, глосарій, флеш-картки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703320" y="39776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A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023360" y="3941064"/>
            <a:ext cx="7665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Бібліотека з 21 офіційного документа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3703320" y="4416552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A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023360" y="4379976"/>
            <a:ext cx="7665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Глосарій англо-українських термінів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3703320" y="4855464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A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023360" y="4818888"/>
            <a:ext cx="7665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Флеш-картки для швидкого повторення</a:t>
            </a:r>
            <a:endParaRPr lang="en-US" sz="14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85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IV.1 БІБЛІОТЕКА ДОКУМЕНТІВ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700" b="1" dirty="0">
                <a:solidFill>
                  <a:srgbClr val="0B2E4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21 офіційний документ ККАМЛР/SISO в основі посібника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2590724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CE4EB"/>
            </a:solidFill>
            <a:prstDash val="solid"/>
          </a:ln>
          <a:effectLst>
            <a:outerShdw sx="100000" sy="100000" kx="0" ky="0" algn="bl" rotWithShape="0" blurRad="101600" dist="38100" dir="5400000">
              <a:srgbClr val="0B2E4E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856232"/>
            <a:ext cx="23164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F4E79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21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640080" y="2651760"/>
            <a:ext cx="23164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3A4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документ опрацьовано</a:t>
            </a:r>
            <a:endParaRPr lang="en-US" sz="11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3A4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повністю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367964" y="1691640"/>
            <a:ext cx="2590724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CE4EB"/>
            </a:solidFill>
            <a:prstDash val="solid"/>
          </a:ln>
          <a:effectLst>
            <a:outerShdw sx="100000" sy="100000" kx="0" ky="0" algn="bl" rotWithShape="0" blurRad="101600" dist="38100" dir="5400000">
              <a:srgbClr val="0B2E4E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505124" y="1856232"/>
            <a:ext cx="23164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F4E79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553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3505124" y="2651760"/>
            <a:ext cx="23164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3A4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видових коди</a:t>
            </a:r>
            <a:endParaRPr lang="en-US" sz="11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3A4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офіційному довіднику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33008" y="1691640"/>
            <a:ext cx="2590724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CE4EB"/>
            </a:solidFill>
            <a:prstDash val="solid"/>
          </a:ln>
          <a:effectLst>
            <a:outerShdw sx="100000" sy="100000" kx="0" ky="0" algn="bl" rotWithShape="0" blurRad="101600" dist="38100" dir="5400000">
              <a:srgbClr val="0B2E4E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370168" y="1856232"/>
            <a:ext cx="23164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F4E79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17+4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6370168" y="2651760"/>
            <a:ext cx="23164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3A4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розділи й додатки</a:t>
            </a:r>
            <a:endParaRPr lang="en-US" sz="11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3A4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Observer's Manual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098051" y="1691640"/>
            <a:ext cx="2590724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CE4EB"/>
            </a:solidFill>
            <a:prstDash val="solid"/>
          </a:ln>
          <a:effectLst>
            <a:outerShdw sx="100000" sy="100000" kx="0" ky="0" algn="bl" rotWithShape="0" blurRad="101600" dist="38100" dir="5400000">
              <a:srgbClr val="0B2E4E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235211" y="1856232"/>
            <a:ext cx="23164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F4E79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16</a:t>
            </a:r>
            <a:endParaRPr lang="en-US" sz="2700" dirty="0"/>
          </a:p>
        </p:txBody>
      </p:sp>
      <p:sp>
        <p:nvSpPr>
          <p:cNvPr id="15" name="Text 13"/>
          <p:cNvSpPr/>
          <p:nvPr/>
        </p:nvSpPr>
        <p:spPr>
          <a:xfrm>
            <a:off x="9235211" y="2651760"/>
            <a:ext cx="23164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3A4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таблиць</a:t>
            </a:r>
            <a:endParaRPr lang="en-US" sz="11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3A4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 звіті про рейс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" y="3703320"/>
            <a:ext cx="11185855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2000"/>
              </a:lnSpc>
              <a:spcAft>
                <a:spcPts val="800"/>
              </a:spcAft>
              <a:buSzPct val="100000"/>
              <a:buChar char="▪"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Конвенція, Схема SISO, Observer's Manual, повний Schedule заходів зі збереження 2025/26, електронний журнал C2, звіт про рейс, посібники з визначення видів, VME-визначник, посібник з мічення та інші.</a:t>
            </a:r>
            <a:endParaRPr lang="en-US" sz="1400" dirty="0"/>
          </a:p>
          <a:p>
            <a:pPr marL="228600" indent="-228600">
              <a:lnSpc>
                <a:spcPct val="112000"/>
              </a:lnSpc>
              <a:spcAft>
                <a:spcPts val="800"/>
              </a:spcAft>
              <a:buSzPct val="100000"/>
              <a:buChar char="▪"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кожного документа на навчальному сайті наведено український переказ (не дослівний переклад) і посилання на оригінал для завантаження.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02920" y="651052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Кваліфікаційна атестація наукових спостерігачів ККАМЛР — ДНУ ІРГЕМО</a:t>
            </a:r>
            <a:endParaRPr lang="en-US" sz="8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85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IV.2 ГЛОСАРІЙ ТЕРМІНІВ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700" b="1" dirty="0">
                <a:solidFill>
                  <a:srgbClr val="0B2E4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Приклади ключових термінів і абревіатур</a:t>
            </a:r>
            <a:endParaRPr lang="en-US" sz="2700" dirty="0"/>
          </a:p>
        </p:txBody>
      </p:sp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627632"/>
          <a:ext cx="11185855" cy="4361688"/>
        </p:xfrm>
        <a:graphic>
          <a:graphicData uri="http://schemas.openxmlformats.org/drawingml/2006/table">
            <a:tbl>
              <a:tblPr/>
              <a:tblGrid>
                <a:gridCol w="2684605"/>
                <a:gridCol w="2684605"/>
                <a:gridCol w="5816645"/>
              </a:tblGrid>
              <a:tr h="54521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Термін / абревіатура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Українською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Пояснення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54521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Haul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Виборка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Підйом ярусу чи трала з водою на борт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521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Green weight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Зелена вага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Вага щойно виловленої, необробленої риби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</a:tr>
              <a:tr h="54521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CDS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Схема документування вилову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Catch Documentation Scheme — відстеження вилову іклача від судна до ринку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521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SISO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Схема наукового спостереження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Scientific International Scheme of Observation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</a:tr>
              <a:tr h="54521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IMAF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Випадкова смертність, пов'язана з промислом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Incidental Mortality Associated with Fishing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521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Вразлива морська екосистема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Vulnerable Marine Ecosystem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</a:tr>
              <a:tr h="54521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Otolith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Отоліт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Кальцинована структура вуха риби для визначення віку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02920" y="6053328"/>
            <a:ext cx="11185855" cy="512064"/>
          </a:xfrm>
          <a:prstGeom prst="roundRect">
            <a:avLst>
              <a:gd name="adj" fmla="val 10714"/>
            </a:avLst>
          </a:prstGeom>
          <a:solidFill>
            <a:srgbClr val="FFE9A8"/>
          </a:solidFill>
          <a:ln/>
        </p:spPr>
      </p:sp>
      <p:sp>
        <p:nvSpPr>
          <p:cNvPr id="6" name="Text 3"/>
          <p:cNvSpPr/>
          <p:nvPr/>
        </p:nvSpPr>
        <p:spPr>
          <a:xfrm>
            <a:off x="667512" y="6053328"/>
            <a:ext cx="10856671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C4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Фонетична вимова кожного терміна наведена кирилицею для зручного запам'ятовування — це наближена транскрипція, а не точний фонетичний стандарт.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502920" y="651052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Кваліфікаційна атестація наукових спостерігачів ККАМЛР — ДНУ ІРГЕМО</a:t>
            </a:r>
            <a:endParaRPr lang="en-US" sz="8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85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IV.3 ФЛЕШ-КАРТКИ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700" b="1" dirty="0">
                <a:solidFill>
                  <a:srgbClr val="0B2E4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Швидке повторення термінів і кодів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3545738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CE4EB"/>
            </a:solidFill>
            <a:prstDash val="solid"/>
          </a:ln>
          <a:effectLst>
            <a:outerShdw sx="100000" sy="100000" kx="0" ky="0" algn="bl" rotWithShape="0" blurRad="101600" dist="38100" dir="5400000">
              <a:srgbClr val="0B2E4E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856232"/>
            <a:ext cx="327141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F4E79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 колоди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640080" y="2651760"/>
            <a:ext cx="32714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3A4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терміни · коди видів ·</a:t>
            </a:r>
            <a:endParaRPr lang="en-US" sz="11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3A4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власні «важкі»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322978" y="1691640"/>
            <a:ext cx="3545738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CE4EB"/>
            </a:solidFill>
            <a:prstDash val="solid"/>
          </a:ln>
          <a:effectLst>
            <a:outerShdw sx="100000" sy="100000" kx="0" ky="0" algn="bl" rotWithShape="0" blurRad="101600" dist="38100" dir="5400000">
              <a:srgbClr val="0B2E4E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460138" y="1856232"/>
            <a:ext cx="327141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F4E79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553+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4460138" y="2651760"/>
            <a:ext cx="32714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3A4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видових кодів</a:t>
            </a:r>
            <a:endParaRPr lang="en-US" sz="11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3A4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 колоді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143037" y="1691640"/>
            <a:ext cx="3545738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CE4EB"/>
            </a:solidFill>
            <a:prstDash val="solid"/>
          </a:ln>
          <a:effectLst>
            <a:outerShdw sx="100000" sy="100000" kx="0" ky="0" algn="bl" rotWithShape="0" blurRad="101600" dist="38100" dir="5400000">
              <a:srgbClr val="0B2E4E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280197" y="1856232"/>
            <a:ext cx="327141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F4E79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★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8280197" y="2651760"/>
            <a:ext cx="32714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3A4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позначка складних</a:t>
            </a:r>
            <a:endParaRPr lang="en-US" sz="11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3A4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карток для повтору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3703320"/>
            <a:ext cx="11185855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2000"/>
              </a:lnSpc>
              <a:spcAft>
                <a:spcPts val="800"/>
              </a:spcAft>
              <a:buSzPct val="100000"/>
              <a:buChar char="▪"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Колода «Терміни» — з глосарію (форми, абревіатури, біологічні терміни).</a:t>
            </a:r>
            <a:endParaRPr lang="en-US" sz="1400" dirty="0"/>
          </a:p>
          <a:p>
            <a:pPr marL="228600" indent="-228600">
              <a:lnSpc>
                <a:spcPct val="112000"/>
              </a:lnSpc>
              <a:spcAft>
                <a:spcPts val="800"/>
              </a:spcAft>
              <a:buSzPct val="100000"/>
              <a:buChar char="▪"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Колода «Коди видів» — трилітерні коди CCAMLR (TOA, TOP, KRI, ANI та інші) з латинською й українською назвою.</a:t>
            </a:r>
            <a:endParaRPr lang="en-US" sz="1400" dirty="0"/>
          </a:p>
          <a:p>
            <a:pPr marL="228600" indent="-228600">
              <a:lnSpc>
                <a:spcPct val="112000"/>
              </a:lnSpc>
              <a:spcAft>
                <a:spcPts val="800"/>
              </a:spcAft>
              <a:buSzPct val="100000"/>
              <a:buChar char="▪"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Рекомендований режим підготовки: спочатку повний прогін колоди, потім — лише позначені зіркою «важкі» картки в останні дні перед атестацією.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02920" y="651052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Кваліфікаційна атестація наукових спостерігачів ККАМЛР — ДНУ ІРГЕМО</a:t>
            </a:r>
            <a:endParaRPr lang="en-US" sz="8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B2E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6858000"/>
          </a:xfrm>
          <a:prstGeom prst="rect">
            <a:avLst/>
          </a:prstGeom>
          <a:solidFill>
            <a:srgbClr val="163A5C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148840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b="1" dirty="0">
                <a:solidFill>
                  <a:srgbClr val="E0A8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V</a:t>
            </a:r>
            <a:endParaRPr lang="en-US" sz="8800" dirty="0"/>
          </a:p>
        </p:txBody>
      </p:sp>
      <p:sp>
        <p:nvSpPr>
          <p:cNvPr id="4" name="Text 2"/>
          <p:cNvSpPr/>
          <p:nvPr/>
        </p:nvSpPr>
        <p:spPr>
          <a:xfrm>
            <a:off x="502920" y="37033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РОЗДІЛ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703320" y="1965960"/>
            <a:ext cx="798545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Підготовка до іспиту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3703320" y="3246120"/>
            <a:ext cx="79854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Чек-лист, програма стажування, самоперевірка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703320" y="39776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A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023360" y="3941064"/>
            <a:ext cx="7665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Чек-лист підготовки до рейсу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3703320" y="4416552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A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023360" y="4379976"/>
            <a:ext cx="7665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Програма 3-денного стажування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3703320" y="4855464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A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023360" y="4818888"/>
            <a:ext cx="7665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Шпаргалка ключових фактів і тест самоперевірки</a:t>
            </a:r>
            <a:endParaRPr lang="en-US" sz="14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85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V.1 ЧЕК-ЛИСТ ПІДГОТОВКИ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700" b="1" dirty="0">
                <a:solidFill>
                  <a:srgbClr val="0B2E4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П'ять груп пунктів чек-листа перед рейсом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645920"/>
            <a:ext cx="5364328" cy="4617720"/>
          </a:xfrm>
          <a:prstGeom prst="roundRect">
            <a:avLst>
              <a:gd name="adj" fmla="val 1386"/>
            </a:avLst>
          </a:prstGeom>
          <a:solidFill>
            <a:srgbClr val="FFFFFF"/>
          </a:solidFill>
          <a:ln w="12700">
            <a:solidFill>
              <a:srgbClr val="DCE4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58952" y="1828800"/>
            <a:ext cx="48522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86A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Документи та технічна підготовка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58952" y="2304288"/>
            <a:ext cx="4852264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2000"/>
              </a:lnSpc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Паспорт (дійсний ≥6 міс.), віза, контракт, посвідчення SISO</a:t>
            </a:r>
            <a:endParaRPr lang="en-US" sz="1300" dirty="0"/>
          </a:p>
          <a:p>
            <a:pPr marL="228600" indent="-228600">
              <a:lnSpc>
                <a:spcPct val="112000"/>
              </a:lnSpc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Поліс медичного страхування на весь рейс</a:t>
            </a:r>
            <a:endParaRPr lang="en-US" sz="1300" dirty="0"/>
          </a:p>
          <a:p>
            <a:pPr marL="228600" indent="-228600">
              <a:lnSpc>
                <a:spcPct val="112000"/>
              </a:lnSpc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Контакти технічного координатора й Секретаріату ККАМЛР</a:t>
            </a:r>
            <a:endParaRPr lang="en-US" sz="1300" dirty="0"/>
          </a:p>
          <a:p>
            <a:pPr marL="228600" indent="-228600">
              <a:lnSpc>
                <a:spcPct val="112000"/>
              </a:lnSpc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Пройдена самоперевірка (80 питань) з прийнятним результатом</a:t>
            </a:r>
            <a:endParaRPr lang="en-US" sz="1300" dirty="0"/>
          </a:p>
          <a:p>
            <a:pPr marL="228600" indent="-228600">
              <a:lnSpc>
                <a:spcPct val="112000"/>
              </a:lnSpc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Перевірено актуальність Schedule заходів зі збереження на сезон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324448" y="1645920"/>
            <a:ext cx="5364328" cy="4617720"/>
          </a:xfrm>
          <a:prstGeom prst="roundRect">
            <a:avLst>
              <a:gd name="adj" fmla="val 1386"/>
            </a:avLst>
          </a:prstGeom>
          <a:solidFill>
            <a:srgbClr val="FFFFFF"/>
          </a:solidFill>
          <a:ln w="12700">
            <a:solidFill>
              <a:srgbClr val="DCE4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0480" y="1828800"/>
            <a:ext cx="48522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86A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Особисте спорядження та обладнання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580480" y="2304288"/>
            <a:ext cx="4852264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2000"/>
              </a:lnSpc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Теплий багатошаровий одяг, водонепроникне взуття</a:t>
            </a:r>
            <a:endParaRPr lang="en-US" sz="1300" dirty="0"/>
          </a:p>
          <a:p>
            <a:pPr marL="228600" indent="-228600">
              <a:lnSpc>
                <a:spcPct val="112000"/>
              </a:lnSpc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ЗІЗ на випадок контакту з птахами/ссавцями (протокол HPAI)</a:t>
            </a:r>
            <a:endParaRPr lang="en-US" sz="1300" dirty="0"/>
          </a:p>
          <a:p>
            <a:pPr marL="228600" indent="-228600">
              <a:lnSpc>
                <a:spcPct val="112000"/>
              </a:lnSpc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Ноутбук/планшет із завантаженими формами (en_C2v2026a)</a:t>
            </a:r>
            <a:endParaRPr lang="en-US" sz="1300" dirty="0"/>
          </a:p>
          <a:p>
            <a:pPr marL="228600" indent="-228600">
              <a:lnSpc>
                <a:spcPct val="112000"/>
              </a:lnSpc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Окремий фотоапарат та екшн-камера для фото/відео мічення</a:t>
            </a:r>
            <a:endParaRPr lang="en-US" sz="1300" dirty="0"/>
          </a:p>
          <a:p>
            <a:pPr marL="228600" indent="-228600">
              <a:lnSpc>
                <a:spcPct val="112000"/>
              </a:lnSpc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Роздруковані або офлайн-збережені ключові документи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651052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Кваліфікаційна атестація наукових спостерігачів ККАМЛР — ДНУ ІРГЕМО</a:t>
            </a:r>
            <a:endParaRPr lang="en-US" sz="8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85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V.2 ПРОГРАМА СТАЖУВАННЯ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700" b="1" dirty="0">
                <a:solidFill>
                  <a:srgbClr val="0B2E4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Розклад 3-денного очного стажування ІРГЕМО</a:t>
            </a:r>
            <a:endParaRPr lang="en-US" sz="2700" dirty="0"/>
          </a:p>
        </p:txBody>
      </p:sp>
      <p:graphicFrame>
        <p:nvGraphicFramePr>
          <p:cNvPr id="4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627632"/>
          <a:ext cx="11185855" cy="4361688"/>
        </p:xfrm>
        <a:graphic>
          <a:graphicData uri="http://schemas.openxmlformats.org/drawingml/2006/table">
            <a:tbl>
              <a:tblPr/>
              <a:tblGrid>
                <a:gridCol w="1789737"/>
                <a:gridCol w="9396118"/>
              </a:tblGrid>
              <a:tr h="109042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День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Основні теми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109042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День 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Конвенція, договірні сторони, керівні документи, заходи зі збереження, термінологія, підрайони й дослідницькі квадрати, знаряддя лову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9042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День 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Права й обов'язки спостерігача, облік улову й прилову, аналіз іклача, отоліти, мічення, VME, взаємодія з птахами й ссавцями, звітність, промисел криля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</a:tr>
              <a:tr h="109042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День 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Інспекційна система в морі та порту, взаємодія з інспекторами, підсумковий іспит з режимом екзамену й таймером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02920" y="6053328"/>
            <a:ext cx="11185855" cy="512064"/>
          </a:xfrm>
          <a:prstGeom prst="roundRect">
            <a:avLst>
              <a:gd name="adj" fmla="val 10714"/>
            </a:avLst>
          </a:prstGeom>
          <a:solidFill>
            <a:srgbClr val="FFE9A8"/>
          </a:solidFill>
          <a:ln/>
        </p:spPr>
      </p:sp>
      <p:sp>
        <p:nvSpPr>
          <p:cNvPr id="6" name="Text 3"/>
          <p:cNvSpPr/>
          <p:nvPr/>
        </p:nvSpPr>
        <p:spPr>
          <a:xfrm>
            <a:off x="667512" y="6053328"/>
            <a:ext cx="10856671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C4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Повна програма зі стажування містить 32 теми занять; для кожної на навчальному сайті підготовлено розгорнуту лекцію-відповідь (розділ «Програма стажування», акордеон під кожною темою).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502920" y="651052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Кваліфікаційна атестація наукових спостерігачів ККАМЛР — ДНУ ІРГЕМО</a:t>
            </a:r>
            <a:endParaRPr lang="en-US" sz="8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85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V.3 ШПАРГАЛКА ТА САМОПЕРЕВІРКА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700" b="1" dirty="0">
                <a:solidFill>
                  <a:srgbClr val="0B2E4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Останній крок перед атестацією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2590724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CE4EB"/>
            </a:solidFill>
            <a:prstDash val="solid"/>
          </a:ln>
          <a:effectLst>
            <a:outerShdw sx="100000" sy="100000" kx="0" ky="0" algn="bl" rotWithShape="0" blurRad="101600" dist="38100" dir="5400000">
              <a:srgbClr val="0B2E4E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856232"/>
            <a:ext cx="23164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F4E79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80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640080" y="2651760"/>
            <a:ext cx="23164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3A4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питань</a:t>
            </a:r>
            <a:endParaRPr lang="en-US" sz="11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3A4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 банку тесту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367964" y="1691640"/>
            <a:ext cx="2590724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CE4EB"/>
            </a:solidFill>
            <a:prstDash val="solid"/>
          </a:ln>
          <a:effectLst>
            <a:outerShdw sx="100000" sy="100000" kx="0" ky="0" algn="bl" rotWithShape="0" blurRad="101600" dist="38100" dir="5400000">
              <a:srgbClr val="0B2E4E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505124" y="1856232"/>
            <a:ext cx="23164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F4E79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8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3505124" y="2651760"/>
            <a:ext cx="23164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3A4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тематичних</a:t>
            </a:r>
            <a:endParaRPr lang="en-US" sz="11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3A4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категорій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33008" y="1691640"/>
            <a:ext cx="2590724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CE4EB"/>
            </a:solidFill>
            <a:prstDash val="solid"/>
          </a:ln>
          <a:effectLst>
            <a:outerShdw sx="100000" sy="100000" kx="0" ky="0" algn="bl" rotWithShape="0" blurRad="101600" dist="38100" dir="5400000">
              <a:srgbClr val="0B2E4E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370168" y="1856232"/>
            <a:ext cx="23164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F4E79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20–90 хв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6370168" y="2651760"/>
            <a:ext cx="23164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3A4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діапазон таймера</a:t>
            </a:r>
            <a:endParaRPr lang="en-US" sz="11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3A4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режиму екзамену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098051" y="1691640"/>
            <a:ext cx="2590724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CE4EB"/>
            </a:solidFill>
            <a:prstDash val="solid"/>
          </a:ln>
          <a:effectLst>
            <a:outerShdw sx="100000" sy="100000" kx="0" ky="0" algn="bl" rotWithShape="0" blurRad="101600" dist="38100" dir="5400000">
              <a:srgbClr val="0B2E4E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235211" y="1856232"/>
            <a:ext cx="23164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F4E79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20 / 40 / 60 / 80</a:t>
            </a:r>
            <a:endParaRPr lang="en-US" sz="2700" dirty="0"/>
          </a:p>
        </p:txBody>
      </p:sp>
      <p:sp>
        <p:nvSpPr>
          <p:cNvPr id="15" name="Text 13"/>
          <p:cNvSpPr/>
          <p:nvPr/>
        </p:nvSpPr>
        <p:spPr>
          <a:xfrm>
            <a:off x="9235211" y="2651760"/>
            <a:ext cx="23164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3A4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розмір випадкової</a:t>
            </a:r>
            <a:endParaRPr lang="en-US" sz="11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3A4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підмножини питань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" y="3703320"/>
            <a:ext cx="11185855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2000"/>
              </a:lnSpc>
              <a:spcAft>
                <a:spcPts val="800"/>
              </a:spcAft>
              <a:buSzPct val="100000"/>
              <a:buChar char="▪"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Режим екзамену показує не лише загальний результат, а й детальний підсумок за кожною з 8 категорій — дозволяє точково визначити слабку тему.</a:t>
            </a:r>
            <a:endParaRPr lang="en-US" sz="1400" dirty="0"/>
          </a:p>
          <a:p>
            <a:pPr marL="228600" indent="-228600">
              <a:lnSpc>
                <a:spcPct val="112000"/>
              </a:lnSpc>
              <a:spcAft>
                <a:spcPts val="800"/>
              </a:spcAft>
              <a:buSzPct val="100000"/>
              <a:buChar char="▪"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Рекомендована стратегія: повний тест → повторення помилок → флеш-картки (особливо «важкі») → 1–2 прогони в режимі екзамену з таймером для тренування під часовим тиском.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02920" y="651052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Кваліфікаційна атестація наукових спостерігачів ККАМЛР — ДНУ ІРГЕМО</a:t>
            </a:r>
            <a:endParaRPr lang="en-US" sz="85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0B2E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163A5C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11480"/>
            <a:ext cx="111858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Поради напередодні атестації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691640"/>
            <a:ext cx="11185855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100"/>
              </a:spcAft>
              <a:buSzPct val="100000"/>
              <a:buChar char="▪"/>
            </a:pPr>
            <a:r>
              <a:rPr lang="en-US" sz="150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намагайтеся завчити весь матеріал напам'ять — зосередьтеся на кількісних нормах (відсотки, ліміти, терміни) і на розрізненні схожих понять (два види іклача, три конфігурації ярусу, тригер vs random VME).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100"/>
              </a:spcAft>
              <a:buSzPct val="100000"/>
              <a:buChar char="▪"/>
            </a:pPr>
            <a:r>
              <a:rPr lang="en-US" sz="150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Пройдіть тест у звичайному режимі, виправте помилки, а тоді повторіть у режимі екзамену з таймером — це найкраще імітує умови реальної атестації.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100"/>
              </a:spcAft>
              <a:buSzPct val="100000"/>
              <a:buChar char="▪"/>
            </a:pPr>
            <a:r>
              <a:rPr lang="en-US" sz="150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Якщо атестація чи рейс стосуються зони НАФО — заздалегідь запросіть у ІРГЕМО окремі матеріали НАФО: цей посібник побудований виключно на джерелах ККАМЛР.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100"/>
              </a:spcAft>
              <a:buSzPct val="100000"/>
              <a:buChar char="▪"/>
            </a:pPr>
            <a:r>
              <a:rPr lang="en-US" sz="150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Цей посібник — навчальний конспект на основі 21 офіційного документа й навчального сайту; він не замінює офіційні вимоги ІРГЕМО та актуальний Schedule заходів зі збереження на конкретний сезон.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02920" y="5394960"/>
            <a:ext cx="11185855" cy="1143000"/>
          </a:xfrm>
          <a:prstGeom prst="roundRect">
            <a:avLst>
              <a:gd name="adj" fmla="val 6400"/>
            </a:avLst>
          </a:prstGeom>
          <a:solidFill>
            <a:srgbClr val="163A5C"/>
          </a:solidFill>
          <a:ln w="12700">
            <a:solidFill>
              <a:srgbClr val="2A4A6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5394960"/>
            <a:ext cx="1063721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ДНУ «Інститут рибного господарства, екології моря та океанографії» (ІРГЕМО)  ·  Секретаріат ККАМЛР: ccamlr@ccamlr.org, +61 3 6210 1111  ·  Уточнюйте контакти технічного координатора та актуальні вимоги атестації безпосередньо в ІРГЕМО.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42</Slides>
  <Notes>42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Ілюстрований посібник-презентація для кваліфікаційної атестації наукових спостерігачів ККАМЛР</dc:title>
  <dc:subject>PptxGenJS Presentation</dc:subject>
  <dc:creator>ДНУ ІРГЕМО — підготовка спостерігачів</dc:creator>
  <cp:lastModifiedBy>ДНУ ІРГЕМО — підготовка спостерігачів</cp:lastModifiedBy>
  <cp:revision>1</cp:revision>
  <dcterms:created xsi:type="dcterms:W3CDTF">2026-07-15T07:30:57Z</dcterms:created>
  <dcterms:modified xsi:type="dcterms:W3CDTF">2026-07-15T07:30:57Z</dcterms:modified>
</cp:coreProperties>
</file>